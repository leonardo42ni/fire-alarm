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41"/>
  </p:notesMasterIdLst>
  <p:handoutMasterIdLst>
    <p:handoutMasterId r:id="rId42"/>
  </p:handoutMasterIdLst>
  <p:sldIdLst>
    <p:sldId id="275" r:id="rId5"/>
    <p:sldId id="276" r:id="rId6"/>
    <p:sldId id="310" r:id="rId7"/>
    <p:sldId id="307" r:id="rId8"/>
    <p:sldId id="311" r:id="rId9"/>
    <p:sldId id="394" r:id="rId10"/>
    <p:sldId id="395" r:id="rId11"/>
    <p:sldId id="423" r:id="rId12"/>
    <p:sldId id="397" r:id="rId13"/>
    <p:sldId id="429" r:id="rId14"/>
    <p:sldId id="430" r:id="rId15"/>
    <p:sldId id="435" r:id="rId16"/>
    <p:sldId id="399" r:id="rId17"/>
    <p:sldId id="452" r:id="rId18"/>
    <p:sldId id="453" r:id="rId19"/>
    <p:sldId id="422" r:id="rId20"/>
    <p:sldId id="438" r:id="rId21"/>
    <p:sldId id="417" r:id="rId22"/>
    <p:sldId id="454" r:id="rId23"/>
    <p:sldId id="457" r:id="rId24"/>
    <p:sldId id="455" r:id="rId25"/>
    <p:sldId id="458" r:id="rId26"/>
    <p:sldId id="456" r:id="rId27"/>
    <p:sldId id="459" r:id="rId28"/>
    <p:sldId id="460" r:id="rId29"/>
    <p:sldId id="461" r:id="rId30"/>
    <p:sldId id="462" r:id="rId31"/>
    <p:sldId id="463" r:id="rId32"/>
    <p:sldId id="428" r:id="rId33"/>
    <p:sldId id="444" r:id="rId34"/>
    <p:sldId id="426" r:id="rId35"/>
    <p:sldId id="445" r:id="rId36"/>
    <p:sldId id="464" r:id="rId37"/>
    <p:sldId id="465" r:id="rId38"/>
    <p:sldId id="467" r:id="rId39"/>
    <p:sldId id="26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F1173-C382-3665-1E92-4F8AAB066BFD}" v="2" dt="2026-07-04T09:17:24.780"/>
    <p1510:client id="{F6F9A89E-4961-EC85-9AD9-549710B2B89B}" v="14" dt="2026-07-03T16:38:37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73" autoAdjust="0"/>
    <p:restoredTop sz="92680" autoAdjust="0"/>
  </p:normalViewPr>
  <p:slideViewPr>
    <p:cSldViewPr snapToGrid="0">
      <p:cViewPr varScale="1">
        <p:scale>
          <a:sx n="76" d="100"/>
          <a:sy n="76" d="100"/>
        </p:scale>
        <p:origin x="17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Tuan Anh 20222450" userId="S::anh.mt222450@sis.hust.edu.vn::4bf1c47f-b811-4898-9f65-fb82964a6b9e" providerId="AD" clId="Web-{90960DBC-C69E-5670-D6DD-1752835B4B6E}"/>
    <pc:docChg chg="delSld modSld">
      <pc:chgData name="Mai Tuan Anh 20222450" userId="S::anh.mt222450@sis.hust.edu.vn::4bf1c47f-b811-4898-9f65-fb82964a6b9e" providerId="AD" clId="Web-{90960DBC-C69E-5670-D6DD-1752835B4B6E}" dt="2026-06-28T12:45:30.790" v="21"/>
      <pc:docMkLst>
        <pc:docMk/>
      </pc:docMkLst>
      <pc:sldChg chg="addSp delSp modSp">
        <pc:chgData name="Mai Tuan Anh 20222450" userId="S::anh.mt222450@sis.hust.edu.vn::4bf1c47f-b811-4898-9f65-fb82964a6b9e" providerId="AD" clId="Web-{90960DBC-C69E-5670-D6DD-1752835B4B6E}" dt="2026-06-28T12:44:26.850" v="18" actId="20577"/>
        <pc:sldMkLst>
          <pc:docMk/>
          <pc:sldMk cId="292364014" sldId="265"/>
        </pc:sldMkLst>
        <pc:spChg chg="mod">
          <ac:chgData name="Mai Tuan Anh 20222450" userId="S::anh.mt222450@sis.hust.edu.vn::4bf1c47f-b811-4898-9f65-fb82964a6b9e" providerId="AD" clId="Web-{90960DBC-C69E-5670-D6DD-1752835B4B6E}" dt="2026-06-28T12:44:26.850" v="18" actId="20577"/>
          <ac:spMkLst>
            <pc:docMk/>
            <pc:sldMk cId="292364014" sldId="265"/>
            <ac:spMk id="3" creationId="{9EF27CAA-32BA-4E6B-B8C0-1A481E08E81D}"/>
          </ac:spMkLst>
        </pc:spChg>
        <pc:spChg chg="add mod">
          <ac:chgData name="Mai Tuan Anh 20222450" userId="S::anh.mt222450@sis.hust.edu.vn::4bf1c47f-b811-4898-9f65-fb82964a6b9e" providerId="AD" clId="Web-{90960DBC-C69E-5670-D6DD-1752835B4B6E}" dt="2026-06-28T12:44:22.959" v="17" actId="14100"/>
          <ac:spMkLst>
            <pc:docMk/>
            <pc:sldMk cId="292364014" sldId="265"/>
            <ac:spMk id="5" creationId="{8E57EAA0-49FA-7118-30AC-C2236D23D2F1}"/>
          </ac:spMkLst>
        </pc:spChg>
      </pc:sldChg>
    </pc:docChg>
  </pc:docChgLst>
  <pc:docChgLst>
    <pc:chgData name="Mai Tuan Anh 20222450" userId="S::anh.mt222450@sis.hust.edu.vn::4bf1c47f-b811-4898-9f65-fb82964a6b9e" providerId="AD" clId="Web-{0EDF52CE-1F82-720C-731E-A637B7C0B4ED}"/>
    <pc:docChg chg="addSld delSld">
      <pc:chgData name="Mai Tuan Anh 20222450" userId="S::anh.mt222450@sis.hust.edu.vn::4bf1c47f-b811-4898-9f65-fb82964a6b9e" providerId="AD" clId="Web-{0EDF52CE-1F82-720C-731E-A637B7C0B4ED}" dt="2026-06-28T13:07:00.483" v="1"/>
      <pc:docMkLst>
        <pc:docMk/>
      </pc:docMkLst>
      <pc:sldChg chg="add">
        <pc:chgData name="Mai Tuan Anh 20222450" userId="S::anh.mt222450@sis.hust.edu.vn::4bf1c47f-b811-4898-9f65-fb82964a6b9e" providerId="AD" clId="Web-{0EDF52CE-1F82-720C-731E-A637B7C0B4ED}" dt="2026-06-28T13:06:43.123" v="0"/>
        <pc:sldMkLst>
          <pc:docMk/>
          <pc:sldMk cId="3880512072" sldId="301"/>
        </pc:sldMkLst>
      </pc:sldChg>
    </pc:docChg>
  </pc:docChgLst>
  <pc:docChgLst>
    <pc:chgData name="Tran Hai Duong 20222253" userId="S::duong.th222253@sis.hust.edu.vn::40e9b697-6731-42ba-bc07-16fabac392e0" providerId="AD" clId="Web-{F6F9A89E-4961-EC85-9AD9-549710B2B89B}"/>
    <pc:docChg chg="modSld">
      <pc:chgData name="Tran Hai Duong 20222253" userId="S::duong.th222253@sis.hust.edu.vn::40e9b697-6731-42ba-bc07-16fabac392e0" providerId="AD" clId="Web-{F6F9A89E-4961-EC85-9AD9-549710B2B89B}" dt="2026-07-03T16:38:37.685" v="13"/>
      <pc:docMkLst>
        <pc:docMk/>
      </pc:docMkLst>
      <pc:sldChg chg="addSp delSp modSp">
        <pc:chgData name="Tran Hai Duong 20222253" userId="S::duong.th222253@sis.hust.edu.vn::40e9b697-6731-42ba-bc07-16fabac392e0" providerId="AD" clId="Web-{F6F9A89E-4961-EC85-9AD9-549710B2B89B}" dt="2026-07-03T16:38:37.685" v="13"/>
        <pc:sldMkLst>
          <pc:docMk/>
          <pc:sldMk cId="3880512072" sldId="301"/>
        </pc:sldMkLst>
        <pc:spChg chg="add del">
          <ac:chgData name="Tran Hai Duong 20222253" userId="S::duong.th222253@sis.hust.edu.vn::40e9b697-6731-42ba-bc07-16fabac392e0" providerId="AD" clId="Web-{F6F9A89E-4961-EC85-9AD9-549710B2B89B}" dt="2026-07-03T16:38:26.981" v="8"/>
          <ac:spMkLst>
            <pc:docMk/>
            <pc:sldMk cId="3880512072" sldId="301"/>
            <ac:spMk id="3" creationId="{0E62131D-2650-0F94-DAED-34A64E9833D0}"/>
          </ac:spMkLst>
        </pc:spChg>
        <pc:spChg chg="add del">
          <ac:chgData name="Tran Hai Duong 20222253" userId="S::duong.th222253@sis.hust.edu.vn::40e9b697-6731-42ba-bc07-16fabac392e0" providerId="AD" clId="Web-{F6F9A89E-4961-EC85-9AD9-549710B2B89B}" dt="2026-07-03T16:38:26.997" v="10"/>
          <ac:spMkLst>
            <pc:docMk/>
            <pc:sldMk cId="3880512072" sldId="301"/>
            <ac:spMk id="11" creationId="{0FDB7F5C-8BEB-802B-7523-36468939C866}"/>
          </ac:spMkLst>
        </pc:spChg>
        <pc:spChg chg="add del">
          <ac:chgData name="Tran Hai Duong 20222253" userId="S::duong.th222253@sis.hust.edu.vn::40e9b697-6731-42ba-bc07-16fabac392e0" providerId="AD" clId="Web-{F6F9A89E-4961-EC85-9AD9-549710B2B89B}" dt="2026-07-03T16:38:26.981" v="9"/>
          <ac:spMkLst>
            <pc:docMk/>
            <pc:sldMk cId="3880512072" sldId="301"/>
            <ac:spMk id="12" creationId="{E0AFFA92-F68B-0A18-69FF-2FACA18A46F6}"/>
          </ac:spMkLst>
        </pc:spChg>
        <pc:picChg chg="add del mod">
          <ac:chgData name="Tran Hai Duong 20222253" userId="S::duong.th222253@sis.hust.edu.vn::40e9b697-6731-42ba-bc07-16fabac392e0" providerId="AD" clId="Web-{F6F9A89E-4961-EC85-9AD9-549710B2B89B}" dt="2026-07-03T16:38:24.544" v="4"/>
          <ac:picMkLst>
            <pc:docMk/>
            <pc:sldMk cId="3880512072" sldId="301"/>
            <ac:picMk id="2" creationId="{36643CC5-1179-890F-B766-FAAF698E7083}"/>
          </ac:picMkLst>
        </pc:picChg>
        <pc:picChg chg="add del mod">
          <ac:chgData name="Tran Hai Duong 20222253" userId="S::duong.th222253@sis.hust.edu.vn::40e9b697-6731-42ba-bc07-16fabac392e0" providerId="AD" clId="Web-{F6F9A89E-4961-EC85-9AD9-549710B2B89B}" dt="2026-07-03T16:38:30.997" v="12"/>
          <ac:picMkLst>
            <pc:docMk/>
            <pc:sldMk cId="3880512072" sldId="301"/>
            <ac:picMk id="4" creationId="{A87B1809-911E-FB0C-843F-0C9E3E5E1DE4}"/>
          </ac:picMkLst>
        </pc:picChg>
        <pc:picChg chg="add mod">
          <ac:chgData name="Tran Hai Duong 20222253" userId="S::duong.th222253@sis.hust.edu.vn::40e9b697-6731-42ba-bc07-16fabac392e0" providerId="AD" clId="Web-{F6F9A89E-4961-EC85-9AD9-549710B2B89B}" dt="2026-07-03T16:38:37.685" v="13"/>
          <ac:picMkLst>
            <pc:docMk/>
            <pc:sldMk cId="3880512072" sldId="301"/>
            <ac:picMk id="5" creationId="{D9190AB4-7E59-1C15-199A-D9195FAEA827}"/>
          </ac:picMkLst>
        </pc:picChg>
      </pc:sldChg>
    </pc:docChg>
  </pc:docChgLst>
  <pc:docChgLst>
    <pc:chgData name="Bui Xuan Quoc 20212452" userId="S::quoc.bx212452@sis.hust.edu.vn::e7bfb43a-3a11-4b72-aa95-5602d8fac9ed" providerId="AD" clId="Web-{DE9A8786-A9BF-36E5-5278-656D7E3D542B}"/>
    <pc:docChg chg="modSld">
      <pc:chgData name="Bui Xuan Quoc 20212452" userId="S::quoc.bx212452@sis.hust.edu.vn::e7bfb43a-3a11-4b72-aa95-5602d8fac9ed" providerId="AD" clId="Web-{DE9A8786-A9BF-36E5-5278-656D7E3D542B}" dt="2026-06-29T02:10:55.319" v="53" actId="20577"/>
      <pc:docMkLst>
        <pc:docMk/>
      </pc:docMkLst>
      <pc:sldChg chg="modSp">
        <pc:chgData name="Bui Xuan Quoc 20212452" userId="S::quoc.bx212452@sis.hust.edu.vn::e7bfb43a-3a11-4b72-aa95-5602d8fac9ed" providerId="AD" clId="Web-{DE9A8786-A9BF-36E5-5278-656D7E3D542B}" dt="2026-06-29T02:10:55.319" v="53" actId="20577"/>
        <pc:sldMkLst>
          <pc:docMk/>
          <pc:sldMk cId="945003436" sldId="276"/>
        </pc:sldMkLst>
        <pc:spChg chg="mod">
          <ac:chgData name="Bui Xuan Quoc 20212452" userId="S::quoc.bx212452@sis.hust.edu.vn::e7bfb43a-3a11-4b72-aa95-5602d8fac9ed" providerId="AD" clId="Web-{DE9A8786-A9BF-36E5-5278-656D7E3D542B}" dt="2026-06-29T02:10:55.319" v="53" actId="20577"/>
          <ac:spMkLst>
            <pc:docMk/>
            <pc:sldMk cId="945003436" sldId="276"/>
            <ac:spMk id="2" creationId="{559A3716-1A4C-0838-86B6-64CAAF77DF5B}"/>
          </ac:spMkLst>
        </pc:spChg>
      </pc:sldChg>
    </pc:docChg>
  </pc:docChgLst>
  <pc:docChgLst>
    <pc:chgData name="Nguyen Dinh Chien 20222467" userId="S::chien.nd222467@sis.hust.edu.vn::e8d705e8-e52b-4079-93aa-607abfd2ceff" providerId="AD" clId="Web-{065F1173-C382-3665-1E92-4F8AAB066BFD}"/>
    <pc:docChg chg="modSld">
      <pc:chgData name="Nguyen Dinh Chien 20222467" userId="S::chien.nd222467@sis.hust.edu.vn::e8d705e8-e52b-4079-93aa-607abfd2ceff" providerId="AD" clId="Web-{065F1173-C382-3665-1E92-4F8AAB066BFD}" dt="2026-07-04T09:17:24.780" v="1" actId="1076"/>
      <pc:docMkLst>
        <pc:docMk/>
      </pc:docMkLst>
      <pc:sldChg chg="modSp">
        <pc:chgData name="Nguyen Dinh Chien 20222467" userId="S::chien.nd222467@sis.hust.edu.vn::e8d705e8-e52b-4079-93aa-607abfd2ceff" providerId="AD" clId="Web-{065F1173-C382-3665-1E92-4F8AAB066BFD}" dt="2026-07-04T09:17:24.780" v="1" actId="1076"/>
        <pc:sldMkLst>
          <pc:docMk/>
          <pc:sldMk cId="3880512072" sldId="301"/>
        </pc:sldMkLst>
        <pc:picChg chg="mod">
          <ac:chgData name="Nguyen Dinh Chien 20222467" userId="S::chien.nd222467@sis.hust.edu.vn::e8d705e8-e52b-4079-93aa-607abfd2ceff" providerId="AD" clId="Web-{065F1173-C382-3665-1E92-4F8AAB066BFD}" dt="2026-07-04T09:17:24.780" v="1" actId="1076"/>
          <ac:picMkLst>
            <pc:docMk/>
            <pc:sldMk cId="3880512072" sldId="301"/>
            <ac:picMk id="5" creationId="{D9190AB4-7E59-1C15-199A-D9195FAEA827}"/>
          </ac:picMkLst>
        </pc:picChg>
      </pc:sldChg>
    </pc:docChg>
  </pc:docChgLst>
  <pc:docChgLst>
    <pc:chgData name="Mai Tuan Anh 20222450" userId="S::anh.mt222450@sis.hust.edu.vn::4bf1c47f-b811-4898-9f65-fb82964a6b9e" providerId="AD" clId="Web-{50170962-5C61-FAC4-7AEB-D976C4440CCD}"/>
    <pc:docChg chg="modSld">
      <pc:chgData name="Mai Tuan Anh 20222450" userId="S::anh.mt222450@sis.hust.edu.vn::4bf1c47f-b811-4898-9f65-fb82964a6b9e" providerId="AD" clId="Web-{50170962-5C61-FAC4-7AEB-D976C4440CCD}" dt="2026-06-27T14:27:53.472" v="62"/>
      <pc:docMkLst>
        <pc:docMk/>
      </pc:docMkLst>
    </pc:docChg>
  </pc:docChgLst>
  <pc:docChgLst>
    <pc:chgData name="Mai Tuan Anh 20222450" userId="4bf1c47f-b811-4898-9f65-fb82964a6b9e" providerId="ADAL" clId="{D9E2ACCB-1225-414A-A284-071D5DF0A79E}"/>
    <pc:docChg chg="undo custSel modSld">
      <pc:chgData name="Mai Tuan Anh 20222450" userId="4bf1c47f-b811-4898-9f65-fb82964a6b9e" providerId="ADAL" clId="{D9E2ACCB-1225-414A-A284-071D5DF0A79E}" dt="2026-06-27T18:48:39.709" v="802" actId="14100"/>
      <pc:docMkLst>
        <pc:docMk/>
      </pc:docMkLst>
      <pc:sldChg chg="addSp delSp modSp mod setBg">
        <pc:chgData name="Mai Tuan Anh 20222450" userId="4bf1c47f-b811-4898-9f65-fb82964a6b9e" providerId="ADAL" clId="{D9E2ACCB-1225-414A-A284-071D5DF0A79E}" dt="2026-06-27T16:01:54.593" v="248" actId="14100"/>
        <pc:sldMkLst>
          <pc:docMk/>
          <pc:sldMk cId="292364014" sldId="265"/>
        </pc:sldMkLst>
        <pc:spChg chg="mod ord">
          <ac:chgData name="Mai Tuan Anh 20222450" userId="4bf1c47f-b811-4898-9f65-fb82964a6b9e" providerId="ADAL" clId="{D9E2ACCB-1225-414A-A284-071D5DF0A79E}" dt="2026-06-27T15:58:16.643" v="180" actId="26606"/>
          <ac:spMkLst>
            <pc:docMk/>
            <pc:sldMk cId="292364014" sldId="265"/>
            <ac:spMk id="2" creationId="{A7101F79-2CBF-4392-B538-B0B5700DB4C6}"/>
          </ac:spMkLst>
        </pc:spChg>
        <pc:spChg chg="mod">
          <ac:chgData name="Mai Tuan Anh 20222450" userId="4bf1c47f-b811-4898-9f65-fb82964a6b9e" providerId="ADAL" clId="{D9E2ACCB-1225-414A-A284-071D5DF0A79E}" dt="2026-06-27T15:58:16.643" v="180" actId="26606"/>
          <ac:spMkLst>
            <pc:docMk/>
            <pc:sldMk cId="292364014" sldId="265"/>
            <ac:spMk id="3" creationId="{9EF27CAA-32BA-4E6B-B8C0-1A481E08E81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74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5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0C64-474D-2C4E-1D83-8089400B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F9D51-7C8A-0219-D53C-F854F6E46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F842D-F201-86F7-4372-CB0B9B885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0A492-E8B2-5970-4DC8-E3F2BE52A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38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CCA91-BA76-9586-AC81-549F5F08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E89CF-7966-BFA2-8C16-8EA4D5AEF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CBA22-7728-96B9-F733-583869CC3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21758-B0D5-0A63-9569-8DCDB9AE8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88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36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A2BD-ACEE-AE8A-0344-EE8993D0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FFE70-84D6-150C-2CF8-37373FB7F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5980D-A7F2-3A99-52C3-C421CED8F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AE52B-7A99-8CA4-7D09-011AB1A95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0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BB59-C728-E3A1-BC63-0CC37776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68418-A85E-CB0A-BF42-3322FEA01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BFD07-36C5-6CF5-ED12-76DE01718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AFA5F-8CAD-82C3-55E5-AC06E4E13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76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BB59-C728-E3A1-BC63-0CC37776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68418-A85E-CB0A-BF42-3322FEA01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BFD07-36C5-6CF5-ED12-76DE01718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AFA5F-8CAD-82C3-55E5-AC06E4E13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7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83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9.png"/><Relationship Id="rId4" Type="http://schemas.openxmlformats.org/officeDocument/2006/relationships/notesSlide" Target="../notesSlides/notesSlide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248" y="2852928"/>
            <a:ext cx="6191504" cy="2127504"/>
          </a:xfrm>
        </p:spPr>
        <p:txBody>
          <a:bodyPr lIns="91440" tIns="45720" rIns="91440" bIns="45720" anchor="t"/>
          <a:lstStyle/>
          <a:p>
            <a:r>
              <a:rPr lang="vi-VN">
                <a:latin typeface="Lato"/>
                <a:ea typeface="Lato"/>
                <a:cs typeface="Lato"/>
              </a:rPr>
              <a:t>ĐỒ ÁN TỐT NGHIỆP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A774-9C93-177E-B284-CA6B5E77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816559CF-0E28-449B-1223-D3D2EA172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51" name="CoverLabel"/>
          <p:cNvSpPr txBox="1"/>
          <p:nvPr/>
        </p:nvSpPr>
        <p:spPr>
          <a:xfrm>
            <a:off x="571500" y="1298016"/>
            <a:ext cx="7112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800" b="1" spc="300">
                <a:solidFill>
                  <a:srgbClr val="C8102E"/>
                </a:solidFill>
                <a:latin typeface="Arial"/>
                <a:cs typeface="Arial"/>
              </a:rPr>
              <a:t>ĐỒ ÁN TỐT NGHIỆP</a:t>
            </a:r>
          </a:p>
        </p:txBody>
      </p:sp>
      <p:sp>
        <p:nvSpPr>
          <p:cNvPr id="52" name="CoverTitle"/>
          <p:cNvSpPr txBox="1"/>
          <p:nvPr/>
        </p:nvSpPr>
        <p:spPr>
          <a:xfrm>
            <a:off x="571500" y="1963994"/>
            <a:ext cx="6477000" cy="2235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</a:pPr>
            <a:r>
              <a:rPr lang="en-US" sz="3200" b="1">
                <a:solidFill>
                  <a:srgbClr val="C8102E"/>
                </a:solidFill>
                <a:latin typeface="Arial"/>
                <a:cs typeface="Arial"/>
              </a:rPr>
              <a:t>THIẾT KẾ HỆ THỐNG BÁO CHÁY KHÔNG DÂY TÍCH HỢP TRONG HỆ SINH THÁI NHÀ THÔNG MINH</a:t>
            </a:r>
          </a:p>
        </p:txBody>
      </p:sp>
      <p:sp>
        <p:nvSpPr>
          <p:cNvPr id="55" name="AccentBar"/>
          <p:cNvSpPr/>
          <p:nvPr/>
        </p:nvSpPr>
        <p:spPr>
          <a:xfrm>
            <a:off x="571500" y="3771900"/>
            <a:ext cx="8890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>
              <a:latin typeface="Arial"/>
              <a:cs typeface="Arial"/>
            </a:endParaRPr>
          </a:p>
        </p:txBody>
      </p:sp>
      <p:sp>
        <p:nvSpPr>
          <p:cNvPr id="56" name="InfoLabels"/>
          <p:cNvSpPr txBox="1"/>
          <p:nvPr/>
        </p:nvSpPr>
        <p:spPr>
          <a:xfrm>
            <a:off x="571500" y="3911600"/>
            <a:ext cx="26924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1">
                <a:solidFill>
                  <a:srgbClr val="0D0D0D"/>
                </a:solidFill>
                <a:latin typeface="Arial"/>
                <a:cs typeface="Arial"/>
              </a:rPr>
              <a:t>Sinh viên thực hiện: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1">
                <a:solidFill>
                  <a:srgbClr val="0D0D0D"/>
                </a:solidFill>
                <a:latin typeface="Arial"/>
                <a:cs typeface="Arial"/>
              </a:rPr>
              <a:t>MSSV: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1">
                <a:solidFill>
                  <a:srgbClr val="0D0D0D"/>
                </a:solidFill>
                <a:latin typeface="Arial"/>
                <a:cs typeface="Arial"/>
              </a:rPr>
              <a:t>Lớp: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1">
                <a:solidFill>
                  <a:srgbClr val="0D0D0D"/>
                </a:solidFill>
                <a:latin typeface="Arial"/>
                <a:cs typeface="Arial"/>
              </a:rPr>
              <a:t>Giảng viên hướng dẫn: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1">
                <a:solidFill>
                  <a:srgbClr val="0D0D0D"/>
                </a:solidFill>
                <a:latin typeface="Arial"/>
                <a:cs typeface="Arial"/>
              </a:rPr>
              <a:t>Trường:</a:t>
            </a:r>
          </a:p>
        </p:txBody>
      </p:sp>
      <p:sp>
        <p:nvSpPr>
          <p:cNvPr id="57" name="InfoValues"/>
          <p:cNvSpPr txBox="1"/>
          <p:nvPr/>
        </p:nvSpPr>
        <p:spPr>
          <a:xfrm>
            <a:off x="3302000" y="3911600"/>
            <a:ext cx="43815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0">
                <a:solidFill>
                  <a:srgbClr val="0D0D0D"/>
                </a:solidFill>
                <a:latin typeface="Arial"/>
                <a:cs typeface="Arial"/>
              </a:rPr>
              <a:t>Nguyễn Trần Tiến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0">
                <a:solidFill>
                  <a:srgbClr val="0D0D0D"/>
                </a:solidFill>
                <a:latin typeface="Arial"/>
                <a:cs typeface="Arial"/>
              </a:rPr>
              <a:t>20222184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0">
                <a:solidFill>
                  <a:srgbClr val="0D0D0D"/>
                </a:solidFill>
                <a:latin typeface="Arial"/>
                <a:cs typeface="Arial"/>
              </a:rPr>
              <a:t>KT Điều khiển &amp; Tự động hóa 12 – K67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0">
                <a:solidFill>
                  <a:srgbClr val="0D0D0D"/>
                </a:solidFill>
                <a:latin typeface="Arial"/>
                <a:cs typeface="Arial"/>
              </a:rPr>
              <a:t>TS. Lê Công Cường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lang="vi-VN" b="0">
                <a:solidFill>
                  <a:srgbClr val="0D0D0D"/>
                </a:solidFill>
                <a:latin typeface="Arial"/>
                <a:cs typeface="Arial"/>
              </a:rPr>
              <a:t>Điện – Điện tử</a:t>
            </a:r>
          </a:p>
        </p:txBody>
      </p:sp>
    </p:spTree>
    <p:extLst>
      <p:ext uri="{BB962C8B-B14F-4D97-AF65-F5344CB8AC3E}">
        <p14:creationId xmlns:p14="http://schemas.microsoft.com/office/powerpoint/2010/main" val="271339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Arial"/>
                <a:cs typeface="Arial"/>
              </a:rPr>
              <a:pPr/>
              <a:t>4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>
                <a:latin typeface="Arial"/>
                <a:cs typeface="Arial"/>
              </a:rPr>
              <a:t>NỘI DUNG TRÌNH BÀY</a:t>
            </a:r>
          </a:p>
        </p:txBody>
      </p:sp>
      <p:sp>
        <p:nvSpPr>
          <p:cNvPr id="60" name="Connector"/>
          <p:cNvSpPr/>
          <p:nvPr/>
        </p:nvSpPr>
        <p:spPr>
          <a:xfrm>
            <a:off x="1073150" y="1295400"/>
            <a:ext cx="38100" cy="4368800"/>
          </a:xfrm>
          <a:prstGeom prst="rect">
            <a:avLst/>
          </a:prstGeom>
          <a:solidFill>
            <a:srgbClr val="F0C9CF"/>
          </a:solidFill>
          <a:ln>
            <a:noFill/>
          </a:ln>
        </p:spPr>
        <p:txBody>
          <a:bodyPr/>
          <a:lstStyle/>
          <a:p>
            <a:endParaRPr>
              <a:latin typeface="Arial"/>
              <a:cs typeface="Arial"/>
            </a:endParaRPr>
          </a:p>
        </p:txBody>
      </p:sp>
      <p:sp>
        <p:nvSpPr>
          <p:cNvPr id="70" name="Badge1"/>
          <p:cNvSpPr/>
          <p:nvPr/>
        </p:nvSpPr>
        <p:spPr>
          <a:xfrm>
            <a:off x="762000" y="965200"/>
            <a:ext cx="660400" cy="6604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0" name="Label1"/>
          <p:cNvSpPr txBox="1"/>
          <p:nvPr/>
        </p:nvSpPr>
        <p:spPr>
          <a:xfrm>
            <a:off x="1701800" y="965200"/>
            <a:ext cx="6350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vi-VN" sz="2200" b="1">
                <a:solidFill>
                  <a:srgbClr val="0D0D0D"/>
                </a:solidFill>
                <a:latin typeface="Arial"/>
                <a:cs typeface="Arial"/>
              </a:rPr>
              <a:t>Mục tiêu đồ án</a:t>
            </a:r>
          </a:p>
        </p:txBody>
      </p:sp>
      <p:sp>
        <p:nvSpPr>
          <p:cNvPr id="71" name="Badge2"/>
          <p:cNvSpPr/>
          <p:nvPr/>
        </p:nvSpPr>
        <p:spPr>
          <a:xfrm>
            <a:off x="762000" y="2057400"/>
            <a:ext cx="660400" cy="6604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1" name="Label2"/>
          <p:cNvSpPr txBox="1"/>
          <p:nvPr/>
        </p:nvSpPr>
        <p:spPr>
          <a:xfrm>
            <a:off x="1701800" y="2057400"/>
            <a:ext cx="6350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vi-VN" sz="2200" b="1">
                <a:solidFill>
                  <a:srgbClr val="0D0D0D"/>
                </a:solidFill>
                <a:latin typeface="Arial"/>
                <a:cs typeface="Arial"/>
              </a:rPr>
              <a:t>Phân tích bài toán</a:t>
            </a:r>
          </a:p>
        </p:txBody>
      </p:sp>
      <p:sp>
        <p:nvSpPr>
          <p:cNvPr id="72" name="Badge3"/>
          <p:cNvSpPr/>
          <p:nvPr/>
        </p:nvSpPr>
        <p:spPr>
          <a:xfrm>
            <a:off x="762000" y="3149600"/>
            <a:ext cx="660400" cy="6604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82" name="Label3"/>
          <p:cNvSpPr txBox="1"/>
          <p:nvPr/>
        </p:nvSpPr>
        <p:spPr>
          <a:xfrm>
            <a:off x="1701800" y="3149600"/>
            <a:ext cx="6350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vi-VN" sz="2200" b="1">
                <a:solidFill>
                  <a:srgbClr val="0D0D0D"/>
                </a:solidFill>
                <a:latin typeface="Arial"/>
                <a:cs typeface="Arial"/>
              </a:rPr>
              <a:t>Thiết kế hệ thống</a:t>
            </a:r>
          </a:p>
        </p:txBody>
      </p:sp>
      <p:sp>
        <p:nvSpPr>
          <p:cNvPr id="73" name="Badge4"/>
          <p:cNvSpPr/>
          <p:nvPr/>
        </p:nvSpPr>
        <p:spPr>
          <a:xfrm>
            <a:off x="762000" y="4241800"/>
            <a:ext cx="660400" cy="6604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83" name="Label4"/>
          <p:cNvSpPr txBox="1"/>
          <p:nvPr/>
        </p:nvSpPr>
        <p:spPr>
          <a:xfrm>
            <a:off x="1701800" y="4241800"/>
            <a:ext cx="6350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vi-VN" sz="2200" b="1">
                <a:solidFill>
                  <a:srgbClr val="0D0D0D"/>
                </a:solidFill>
                <a:latin typeface="Arial"/>
                <a:cs typeface="Arial"/>
              </a:rPr>
              <a:t>Kết quả thử nghiệm</a:t>
            </a:r>
          </a:p>
        </p:txBody>
      </p:sp>
      <p:sp>
        <p:nvSpPr>
          <p:cNvPr id="74" name="Badge5"/>
          <p:cNvSpPr/>
          <p:nvPr/>
        </p:nvSpPr>
        <p:spPr>
          <a:xfrm>
            <a:off x="762000" y="5334000"/>
            <a:ext cx="660400" cy="6604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84" name="Label5"/>
          <p:cNvSpPr txBox="1"/>
          <p:nvPr/>
        </p:nvSpPr>
        <p:spPr>
          <a:xfrm>
            <a:off x="1701800" y="5334000"/>
            <a:ext cx="6350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vi-VN" sz="2200" b="1">
                <a:solidFill>
                  <a:srgbClr val="0D0D0D"/>
                </a:solidFill>
                <a:latin typeface="Arial"/>
                <a:cs typeface="Arial"/>
              </a:rPr>
              <a:t>Kết luận và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08073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032AB8-C010-2816-20E4-F2210765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Arial"/>
                <a:cs typeface="Arial"/>
              </a:rPr>
              <a:pPr/>
              <a:t>5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BA1382-9D79-4A22-94AF-9B0D9695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1. MỤC TIÊU ĐỒ ÁN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28BE9-BCC9-F5C6-7281-E094CDDF0F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4378935"/>
          </a:xfrm>
        </p:spPr>
        <p:txBody>
          <a:bodyPr/>
          <a:lstStyle/>
          <a:p>
            <a:pPr algn="l">
              <a:lnSpc>
                <a:spcPct val="108000"/>
              </a:lnSpc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Đặt vấn đề</a:t>
            </a:r>
            <a:r>
              <a:rPr lang="en-US" sz="2000" b="1">
                <a:solidFill>
                  <a:srgbClr val="C8102E"/>
                </a:solidFill>
                <a:latin typeface="Arial"/>
                <a:cs typeface="Arial"/>
              </a:rPr>
              <a:t>:</a:t>
            </a: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 bối cảnh &amp; lý do chọn đề tài</a:t>
            </a: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Theo </a:t>
            </a:r>
            <a:r>
              <a:rPr lang="en-US" sz="1600" b="0" err="1">
                <a:solidFill>
                  <a:srgbClr val="0D0D0D"/>
                </a:solidFill>
                <a:latin typeface="Arial"/>
                <a:cs typeface="Arial"/>
              </a:rPr>
              <a:t>Bộ</a:t>
            </a: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 Công an, </a:t>
            </a:r>
            <a:r>
              <a:rPr lang="en-US" sz="1600">
                <a:solidFill>
                  <a:srgbClr val="0D0D0D"/>
                </a:solidFill>
                <a:latin typeface="Arial"/>
                <a:cs typeface="Arial"/>
              </a:rPr>
              <a:t>n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ăm 2025 cả nước xảy ra 3.060 vụ cháy, làm 90 người chết, thiệt hại ~786,78 tỷ đồng</a:t>
            </a: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.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Báo cháy truyền thống còn hạn chế: hệ có dây phức tạp, chi phí cao; không dây dễ nhiễu &amp; hao pin; cảm biến đơn lẻ dễ báo động giả.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Mục tiêu tổng quát</a:t>
            </a: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Xây dựng hệ thống báo cháy không dây</a:t>
            </a: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 dựa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 trên mạng Thread, tích hợp</a:t>
            </a: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 trong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 hệ sinh thái nhà thông minh.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Mục tiêu cụ thể</a:t>
            </a: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Phát hiện sớm bằng đa cảm biến, hạn chế báo động giả.</a:t>
            </a: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Truyền dữ liệu tin cậy.</a:t>
            </a: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Tối ưu năng lượng cho thiết bị để kéo dài tuổi thọ pin.</a:t>
            </a:r>
          </a:p>
          <a:p>
            <a:pPr marL="342900" indent="-342900" algn="l">
              <a:lnSpc>
                <a:spcPct val="110000"/>
              </a:lnSpc>
              <a:spcBef>
                <a:spcPts val="3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Giám sát từ xa và cảnh báo tức thời.</a:t>
            </a:r>
          </a:p>
        </p:txBody>
      </p:sp>
    </p:spTree>
    <p:extLst>
      <p:ext uri="{BB962C8B-B14F-4D97-AF65-F5344CB8AC3E}">
        <p14:creationId xmlns:p14="http://schemas.microsoft.com/office/powerpoint/2010/main" val="306068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6D449-ABD7-1C12-43F4-4684B476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Arial"/>
                <a:cs typeface="Arial"/>
              </a:rPr>
              <a:pPr/>
              <a:t>6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0DE96-6724-51D0-CCEA-DE88E969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2. Phân tích bài toán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B885F-64E4-04AD-9887-BBFC78833B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457200"/>
          </a:xfrm>
        </p:spPr>
        <p:txBody>
          <a:bodyPr/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2.1 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B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ài toán &amp; giải pháp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8E7427-F254-430A-BEA8-5C0993D34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326382"/>
              </p:ext>
            </p:extLst>
          </p:nvPr>
        </p:nvGraphicFramePr>
        <p:xfrm>
          <a:off x="250683" y="1806448"/>
          <a:ext cx="86741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5000">
                  <a:extLst>
                    <a:ext uri="{9D8B030D-6E8A-4147-A177-3AD203B41FA5}">
                      <a16:colId xmlns:a16="http://schemas.microsoft.com/office/drawing/2014/main" val="2012723041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409872826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Bài toán cần giải quyết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Giải pháp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28724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Phát hiện cháy sớm, chính xác, tránh báo động giả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Đa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cảm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biến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(</a:t>
                      </a:r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độ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, eCO₂, </a:t>
                      </a:r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khói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4013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Truyền không dây tin cậy qua nhiều vật cản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Mạng Thread mesh (tự phục hồi)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0084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Tiết kiệm năng lượng, kéo dài tuổi thọ pin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Thiết bị SED (light-sleep, wake-up GPIO)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09406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Giám sát &amp; cảnh báo cháy từ xa thời gian thực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CoAP→MQTT</a:t>
                      </a:r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+ Dashboard + Telegram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5189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6BE08-B81E-B06A-929E-D9BE5B9D647C}"/>
              </a:ext>
            </a:extLst>
          </p:cNvPr>
          <p:cNvSpPr txBox="1"/>
          <p:nvPr/>
        </p:nvSpPr>
        <p:spPr>
          <a:xfrm>
            <a:off x="2844256" y="1514060"/>
            <a:ext cx="3486953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i="1">
                <a:solidFill>
                  <a:srgbClr val="606060"/>
                </a:solidFill>
                <a:latin typeface="Arial"/>
                <a:cs typeface="Arial"/>
              </a:rPr>
              <a:t>Bảng 2.1 Bài toán cần giải quyết</a:t>
            </a:r>
          </a:p>
        </p:txBody>
      </p:sp>
    </p:spTree>
    <p:extLst>
      <p:ext uri="{BB962C8B-B14F-4D97-AF65-F5344CB8AC3E}">
        <p14:creationId xmlns:p14="http://schemas.microsoft.com/office/powerpoint/2010/main" val="360459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F3843-B3D7-C98E-D922-BF580077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>
                <a:latin typeface="Arial"/>
                <a:cs typeface="Arial"/>
              </a:rPr>
              <a:pPr/>
              <a:t>7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062101-A885-ECBD-C43B-2F08DF5D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2. Phân tích bài toán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210EC-4EAE-735E-C067-E5C8322794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812801"/>
            <a:ext cx="8674100" cy="365125"/>
          </a:xfrm>
        </p:spPr>
        <p:txBody>
          <a:bodyPr/>
          <a:lstStyle/>
          <a:p>
            <a:pPr algn="l">
              <a:spcAft>
                <a:spcPts val="4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2.2 </a:t>
            </a:r>
            <a:r>
              <a:rPr lang="en-US" sz="2200" b="1" err="1">
                <a:solidFill>
                  <a:srgbClr val="C8102E"/>
                </a:solidFill>
                <a:latin typeface="Arial"/>
                <a:cs typeface="Arial"/>
              </a:rPr>
              <a:t>Lựa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en-US" sz="2200" b="1" err="1">
                <a:solidFill>
                  <a:srgbClr val="C8102E"/>
                </a:solidFill>
                <a:latin typeface="Arial"/>
                <a:cs typeface="Arial"/>
              </a:rPr>
              <a:t>chọn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en-US" sz="2200" b="1" err="1">
                <a:solidFill>
                  <a:srgbClr val="C8102E"/>
                </a:solidFill>
                <a:latin typeface="Arial"/>
                <a:cs typeface="Arial"/>
              </a:rPr>
              <a:t>linh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en-US" sz="2200" b="1" err="1">
                <a:solidFill>
                  <a:srgbClr val="C8102E"/>
                </a:solidFill>
                <a:latin typeface="Arial"/>
                <a:cs typeface="Arial"/>
              </a:rPr>
              <a:t>kiện</a:t>
            </a:r>
            <a:endParaRPr lang="vi-VN" sz="2200" b="1">
              <a:solidFill>
                <a:srgbClr val="C8102E"/>
              </a:solidFill>
              <a:latin typeface="Arial"/>
              <a:cs typeface="Arial"/>
            </a:endParaRPr>
          </a:p>
          <a:p>
            <a:pPr algn="l">
              <a:buNone/>
            </a:pPr>
            <a:endParaRPr lang="vi-VN" sz="1500" b="0">
              <a:solidFill>
                <a:srgbClr val="0D0D0D"/>
              </a:solidFill>
              <a:latin typeface="Arial"/>
              <a:cs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906743-C5C6-47B7-90BA-58168D84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50864"/>
              </p:ext>
            </p:extLst>
          </p:nvPr>
        </p:nvGraphicFramePr>
        <p:xfrm>
          <a:off x="250683" y="1518919"/>
          <a:ext cx="86741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821">
                  <a:extLst>
                    <a:ext uri="{9D8B030D-6E8A-4147-A177-3AD203B41FA5}">
                      <a16:colId xmlns:a16="http://schemas.microsoft.com/office/drawing/2014/main" val="4042634836"/>
                    </a:ext>
                  </a:extLst>
                </a:gridCol>
                <a:gridCol w="1543249">
                  <a:extLst>
                    <a:ext uri="{9D8B030D-6E8A-4147-A177-3AD203B41FA5}">
                      <a16:colId xmlns:a16="http://schemas.microsoft.com/office/drawing/2014/main" val="3830405646"/>
                    </a:ext>
                  </a:extLst>
                </a:gridCol>
                <a:gridCol w="5061030">
                  <a:extLst>
                    <a:ext uri="{9D8B030D-6E8A-4147-A177-3AD203B41FA5}">
                      <a16:colId xmlns:a16="http://schemas.microsoft.com/office/drawing/2014/main" val="63654630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Linh </a:t>
                      </a:r>
                      <a:r>
                        <a:rPr lang="en-US" sz="1600" b="1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kiện</a:t>
                      </a:r>
                      <a:endParaRPr lang="en-US" sz="16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Ảnh</a:t>
                      </a:r>
                      <a:endParaRPr lang="en-US" sz="16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Vai </a:t>
                      </a:r>
                      <a:r>
                        <a:rPr lang="en-US" sz="1600" b="1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trò</a:t>
                      </a:r>
                      <a:endParaRPr lang="en-US" sz="16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87022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ESP32-H2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solidFill>
                            <a:srgbClr val="B0B0B0"/>
                          </a:solidFill>
                          <a:latin typeface="Arial"/>
                          <a:cs typeface="Arial"/>
                        </a:rPr>
                        <a:t>Ảnh</a:t>
                      </a:r>
                      <a:endParaRPr lang="en-US" sz="1600">
                        <a:solidFill>
                          <a:srgbClr val="B0B0B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SoC Thread (802.15.4 +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OpenThread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)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cho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Router &amp; SED, làm RCP cho Border Router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89848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ESP32 WROOM 32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solidFill>
                            <a:srgbClr val="B0B0B0"/>
                          </a:solidFill>
                          <a:latin typeface="Arial"/>
                          <a:cs typeface="Arial"/>
                        </a:rPr>
                        <a:t>Ảnh</a:t>
                      </a:r>
                      <a:endParaRPr lang="en-US" sz="1600">
                        <a:solidFill>
                          <a:srgbClr val="B0B0B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Border Router: Wi-Fi, cầu nối lên cloud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2054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SHT31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solidFill>
                            <a:srgbClr val="B0B0B0"/>
                          </a:solidFill>
                          <a:latin typeface="Arial"/>
                          <a:cs typeface="Arial"/>
                        </a:rPr>
                        <a:t>Ảnh</a:t>
                      </a:r>
                      <a:endParaRPr lang="en-US" sz="1600">
                        <a:solidFill>
                          <a:srgbClr val="B0B0B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Cảm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biến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độ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&amp;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độ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ẩm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(I²C)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2106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CCS811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B0B0B0"/>
                          </a:solidFill>
                          <a:latin typeface="Arial"/>
                          <a:cs typeface="Arial"/>
                        </a:rPr>
                        <a:t>Ảnh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Cảm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biến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chất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lượng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không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khí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: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eCO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₂, TVOC (I²C)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4984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RE46C194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>
                          <a:solidFill>
                            <a:srgbClr val="B0B0B0"/>
                          </a:solidFill>
                          <a:latin typeface="Arial"/>
                          <a:cs typeface="Arial"/>
                        </a:rPr>
                        <a:t>Ảnh</a:t>
                      </a:r>
                      <a:endParaRPr lang="en-US" sz="1600">
                        <a:solidFill>
                          <a:srgbClr val="B0B0B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IC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cảm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600" err="1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biến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khói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34661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327D8A7-B09E-33B7-BE76-49D0B49E0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7" t="9816" r="5252" b="9605"/>
          <a:stretch>
            <a:fillRect/>
          </a:stretch>
        </p:blipFill>
        <p:spPr>
          <a:xfrm>
            <a:off x="2597068" y="1888329"/>
            <a:ext cx="1108062" cy="786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AB8FDE-9132-6287-821F-2E3A2B18E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7474" r="7092" b="10841"/>
          <a:stretch>
            <a:fillRect/>
          </a:stretch>
        </p:blipFill>
        <p:spPr>
          <a:xfrm rot="5400000">
            <a:off x="2740892" y="4267354"/>
            <a:ext cx="754608" cy="10422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4D5DA1-E462-10E9-5DAE-138D357FC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636482" y="3575173"/>
            <a:ext cx="930513" cy="711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888747-BE2E-B994-30B0-BC1D8F3EC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019" y="2751057"/>
            <a:ext cx="1373313" cy="711200"/>
          </a:xfrm>
          <a:prstGeom prst="rect">
            <a:avLst/>
          </a:prstGeom>
        </p:spPr>
      </p:pic>
      <p:pic>
        <p:nvPicPr>
          <p:cNvPr id="16" name="Picture 15" descr="RE46C194 | Microchip Technology">
            <a:extLst>
              <a:ext uri="{FF2B5EF4-FFF2-40B4-BE49-F238E27FC236}">
                <a16:creationId xmlns:a16="http://schemas.microsoft.com/office/drawing/2014/main" id="{ECEEA3D1-0A75-8AE6-92B6-2AE3BC926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4617" y="5249892"/>
            <a:ext cx="1058530" cy="71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C81A49-4CEB-041E-2EE4-16495D93E766}"/>
              </a:ext>
            </a:extLst>
          </p:cNvPr>
          <p:cNvSpPr txBox="1"/>
          <p:nvPr/>
        </p:nvSpPr>
        <p:spPr>
          <a:xfrm>
            <a:off x="2828523" y="1226531"/>
            <a:ext cx="3486953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i="1">
                <a:solidFill>
                  <a:srgbClr val="606060"/>
                </a:solidFill>
                <a:latin typeface="Arial"/>
                <a:cs typeface="Arial"/>
              </a:rPr>
              <a:t>Bảng 3.2 Linh kiện lựa chọn</a:t>
            </a:r>
          </a:p>
        </p:txBody>
      </p:sp>
    </p:spTree>
    <p:extLst>
      <p:ext uri="{BB962C8B-B14F-4D97-AF65-F5344CB8AC3E}">
        <p14:creationId xmlns:p14="http://schemas.microsoft.com/office/powerpoint/2010/main" val="8623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B985E-0243-06E5-AD07-35EE67F2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90A69D-534E-AB7D-6049-1AAC242A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ED524-8BBB-E481-D8C1-C0B24BD485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508000"/>
          </a:xfrm>
        </p:spPr>
        <p:txBody>
          <a:bodyPr/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3.1 Kiến trúc tổng thể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97D9A-5905-42AB-B94B-DA8551F718C2}"/>
              </a:ext>
            </a:extLst>
          </p:cNvPr>
          <p:cNvSpPr txBox="1"/>
          <p:nvPr/>
        </p:nvSpPr>
        <p:spPr>
          <a:xfrm>
            <a:off x="3054350" y="5892800"/>
            <a:ext cx="30353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vi-VN" sz="1300" i="1">
                <a:solidFill>
                  <a:srgbClr val="606060"/>
                </a:solidFill>
                <a:latin typeface="Arial"/>
                <a:cs typeface="Arial"/>
              </a:rPr>
              <a:t>Hình 3.1 Sơ đồ khối tổng thể hệ thống</a:t>
            </a:r>
            <a:endParaRPr lang="en-US" sz="1300" i="1">
              <a:solidFill>
                <a:srgbClr val="606060"/>
              </a:solidFill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767D3-116E-93A0-F50B-A5C93FE8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33" y="1431611"/>
            <a:ext cx="7409334" cy="44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7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720BC-F603-2AB1-D1DF-F46B20D7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4984EC-2200-936E-0EE8-3C81BB97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F2F3-2938-9915-26DC-F4AA78A0BA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55602"/>
            <a:ext cx="8674100" cy="362074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2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Thiết kế phần cứng</a:t>
            </a:r>
          </a:p>
          <a:p>
            <a:pPr algn="just">
              <a:buNone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5" name="Caption 3.2">
            <a:extLst>
              <a:ext uri="{FF2B5EF4-FFF2-40B4-BE49-F238E27FC236}">
                <a16:creationId xmlns:a16="http://schemas.microsoft.com/office/drawing/2014/main" id="{8E8F6C08-F084-4422-80AD-5878F500DE9E}"/>
              </a:ext>
            </a:extLst>
          </p:cNvPr>
          <p:cNvSpPr txBox="1"/>
          <p:nvPr/>
        </p:nvSpPr>
        <p:spPr>
          <a:xfrm>
            <a:off x="2975925" y="5943600"/>
            <a:ext cx="3192145" cy="272803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3.2 Sơ đồ mạch Border Router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1309B9-7E8E-4EA2-45FD-9B46CBE8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7" y="1217676"/>
            <a:ext cx="8492363" cy="472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21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482D-F35C-2C50-074D-F9A3FC53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0F45A-B966-21E0-76F0-6C66966B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6BCCCA-2946-FB6D-24C1-FE05C653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4A0CD-14F8-3264-656E-7C4BBCB7BC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55602"/>
            <a:ext cx="8674100" cy="362074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2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Thiết kế phần cứng</a:t>
            </a:r>
          </a:p>
          <a:p>
            <a:pPr algn="just">
              <a:buNone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10" name="Caption 3.2">
            <a:extLst>
              <a:ext uri="{FF2B5EF4-FFF2-40B4-BE49-F238E27FC236}">
                <a16:creationId xmlns:a16="http://schemas.microsoft.com/office/drawing/2014/main" id="{600B0DDC-5CF4-5691-EF60-905607FD4120}"/>
              </a:ext>
            </a:extLst>
          </p:cNvPr>
          <p:cNvSpPr txBox="1"/>
          <p:nvPr/>
        </p:nvSpPr>
        <p:spPr>
          <a:xfrm>
            <a:off x="3318497" y="6076375"/>
            <a:ext cx="2507006" cy="303019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ctr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3.3 Sơ đồ mạch Router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D0F4D-518E-8C9A-C005-F3F22BBC5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48" y="1301808"/>
            <a:ext cx="8110304" cy="47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3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655D-5461-FDDB-ADFE-89A9E920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0D170-0249-8EEC-0B43-55FAB41D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6744AC-5389-241D-901D-90EDD40CF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C61D6-F4D3-C449-2687-46E2BB49EE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55602"/>
            <a:ext cx="8674100" cy="362074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2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Thiết kế phần cứng</a:t>
            </a:r>
          </a:p>
          <a:p>
            <a:pPr algn="just">
              <a:buNone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7" name="Caption 3.2">
            <a:extLst>
              <a:ext uri="{FF2B5EF4-FFF2-40B4-BE49-F238E27FC236}">
                <a16:creationId xmlns:a16="http://schemas.microsoft.com/office/drawing/2014/main" id="{4ED3337C-9BB2-B507-3C92-E8A62030A159}"/>
              </a:ext>
            </a:extLst>
          </p:cNvPr>
          <p:cNvSpPr txBox="1"/>
          <p:nvPr/>
        </p:nvSpPr>
        <p:spPr>
          <a:xfrm>
            <a:off x="3458380" y="6040599"/>
            <a:ext cx="2227240" cy="328905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ctr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3.4 Sơ đồ mạch SED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B558D5-7005-0E42-32D2-1FC25F51E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067" y="1201480"/>
            <a:ext cx="4481866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61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720BC-F603-2AB1-D1DF-F46B20D7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4984EC-2200-936E-0EE8-3C81BB97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F2F3-2938-9915-26DC-F4AA78A0BA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762000"/>
          </a:xfrm>
        </p:spPr>
        <p:txBody>
          <a:bodyPr/>
          <a:lstStyle/>
          <a:p>
            <a:pPr algn="l">
              <a:spcAft>
                <a:spcPts val="4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3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Tính toán thời lượng pin cho SED</a:t>
            </a:r>
          </a:p>
          <a:p>
            <a:pPr algn="just">
              <a:buNone/>
            </a:pPr>
            <a:r>
              <a:rPr lang="en-US" sz="15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500" b="0">
              <a:solidFill>
                <a:srgbClr val="0D0D0D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Formulas"/>
              <p:cNvSpPr txBox="1"/>
              <p:nvPr/>
            </p:nvSpPr>
            <p:spPr>
              <a:xfrm>
                <a:off x="241300" y="1371600"/>
                <a:ext cx="8674100" cy="4673600"/>
              </a:xfrm>
              <a:prstGeom prst="roundRect">
                <a:avLst>
                  <a:gd name="adj" fmla="val 3000"/>
                </a:avLst>
              </a:prstGeom>
              <a:noFill/>
              <a:ln w="12700">
                <a:noFill/>
              </a:ln>
            </p:spPr>
            <p:txBody>
              <a:bodyPr wrap="square" lIns="108000" tIns="72000" rIns="90000" bIns="54000" anchor="t"/>
              <a:lstStyle/>
              <a:p>
                <a:pPr algn="l">
                  <a:spcBef>
                    <a:spcPts val="200"/>
                  </a:spcBef>
                </a:pP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Dòng trung bình của ESP32-H2 được tính như sau:</a:t>
                </a:r>
              </a:p>
              <a:p>
                <a:pPr algn="ctr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sSubPr>
                        <m:e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𝐈</m:t>
                          </m:r>
                        </m:e>
                        <m:sub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𝐄𝐒𝐏</m:t>
                          </m:r>
                        </m:sub>
                      </m:sSub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=</m:t>
                      </m:r>
                      <m:f>
                        <m:fPr>
                          <m:ctrlPr>
                            <a:rPr lang="vi-V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fPr>
                        <m:num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𝟎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,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𝟐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×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𝟐𝟒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,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𝟗𝟖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+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𝟑𝟎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×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𝟎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,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𝟎𝟐</m:t>
                          </m:r>
                        </m:num>
                        <m:den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𝟐𝟓</m:t>
                          </m:r>
                        </m:den>
                      </m:f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≈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𝟎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,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𝟐𝟐𝟒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 </m:t>
                      </m:r>
                      <m:r>
                        <m:rPr>
                          <m:nor/>
                        </m:rPr>
                        <a:rPr lang="vi-VN" sz="1600" b="0" i="0">
                          <a:solidFill>
                            <a:srgbClr val="C00000"/>
                          </a:solidFill>
                          <a:cs typeface="Consolas"/>
                        </a:rPr>
                        <m:t>mA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  <a:cs typeface="Consolas"/>
                </a:endParaRPr>
              </a:p>
              <a:p>
                <a:pPr algn="l">
                  <a:spcBef>
                    <a:spcPts val="300"/>
                  </a:spcBef>
                </a:pPr>
                <a:r>
                  <a:rPr lang="en-US" sz="1600" b="0">
                    <a:solidFill>
                      <a:srgbClr val="404040"/>
                    </a:solidFill>
                    <a:cs typeface="Arial"/>
                  </a:rPr>
                  <a:t>T</a:t>
                </a: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rong chu kỳ, ESP32-H2 ở light-sleep phần lớn thời gian, chỉ thức ~20 ms mỗi 25 giây (0,2 mA: dòng light-sleep; 30 mA: dòng active</a:t>
                </a:r>
                <a:r>
                  <a:rPr lang="en-US" sz="1600" b="0">
                    <a:solidFill>
                      <a:srgbClr val="404040"/>
                    </a:solidFill>
                    <a:cs typeface="Arial"/>
                  </a:rPr>
                  <a:t>,</a:t>
                </a: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 theo datasheet ESP32-H2).</a:t>
                </a:r>
                <a:endParaRPr lang="vi-VN" sz="1600" b="1">
                  <a:solidFill>
                    <a:srgbClr val="C00000"/>
                  </a:solidFill>
                  <a:cs typeface="Consolas"/>
                </a:endParaRPr>
              </a:p>
              <a:p>
                <a:pPr algn="l">
                  <a:spcBef>
                    <a:spcPts val="200"/>
                  </a:spcBef>
                </a:pP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Từ đó, tổng dòng tiêu thụ trung bình của SED là:</a:t>
                </a:r>
              </a:p>
              <a:p>
                <a:pPr algn="ctr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600" b="1" i="1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sSubPr>
                        <m:e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𝐈</m:t>
                          </m:r>
                        </m:e>
                        <m:sub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𝐚𝐯𝐠</m:t>
                          </m:r>
                        </m:sub>
                      </m:sSub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=</m:t>
                      </m:r>
                      <m:sSub>
                        <m:sSubPr>
                          <m:ctrlPr>
                            <a:rPr lang="vi-VN" sz="1600" b="1" i="1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sSubPr>
                        <m:e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𝐈</m:t>
                          </m:r>
                        </m:e>
                        <m:sub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𝐄𝐒𝐏</m:t>
                          </m:r>
                        </m:sub>
                      </m:sSub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+</m:t>
                      </m:r>
                      <m:sSub>
                        <m:sSubPr>
                          <m:ctrlPr>
                            <a:rPr lang="vi-VN" sz="1600" b="1" i="1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sSubPr>
                        <m:e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𝐈</m:t>
                          </m:r>
                        </m:e>
                        <m:sub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𝐒𝐇𝐓</m:t>
                          </m:r>
                        </m:sub>
                      </m:sSub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+</m:t>
                      </m:r>
                      <m:sSub>
                        <m:sSubPr>
                          <m:ctrlPr>
                            <a:rPr lang="vi-VN" sz="1600" b="1" i="1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sSubPr>
                        <m:e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𝐈</m:t>
                          </m:r>
                        </m:e>
                        <m:sub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𝐂𝐂𝐒</m:t>
                          </m:r>
                        </m:sub>
                      </m:sSub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+</m:t>
                      </m:r>
                      <m:sSub>
                        <m:sSubPr>
                          <m:ctrlPr>
                            <a:rPr lang="vi-VN" sz="1600" b="1" i="1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sSubPr>
                        <m:e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𝐈</m:t>
                          </m:r>
                        </m:e>
                        <m:sub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𝐩𝐡</m:t>
                          </m:r>
                          <m:r>
                            <a:rPr lang="vi-VN" sz="1600" b="1" i="0" smtClean="0">
                              <a:solidFill>
                                <a:srgbClr val="C8102E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ụ</m:t>
                          </m:r>
                        </m:sub>
                      </m:sSub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≈</m:t>
                      </m:r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𝟎</m:t>
                      </m:r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,</m:t>
                      </m:r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𝟑𝟑𝟓𝟕</m:t>
                      </m:r>
                      <m:r>
                        <a:rPr lang="vi-VN" sz="1600" b="1" i="0" smtClean="0">
                          <a:solidFill>
                            <a:srgbClr val="C8102E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 </m:t>
                      </m:r>
                      <m:r>
                        <m:rPr>
                          <m:nor/>
                        </m:rPr>
                        <a:rPr lang="vi-VN" sz="1600" b="0" i="0">
                          <a:solidFill>
                            <a:srgbClr val="C8102E"/>
                          </a:solidFill>
                          <a:cs typeface="Consolas"/>
                        </a:rPr>
                        <m:t>mA</m:t>
                      </m:r>
                    </m:oMath>
                  </m:oMathPara>
                </a14:m>
                <a:endParaRPr lang="en-US" sz="1600" b="1">
                  <a:solidFill>
                    <a:srgbClr val="C8102E"/>
                  </a:solidFill>
                  <a:cs typeface="Consolas"/>
                </a:endParaRPr>
              </a:p>
              <a:p>
                <a:pPr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𝑆𝐻𝑇</m:t>
                        </m:r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31</m:t>
                        </m:r>
                      </m:sub>
                    </m:sSub>
                  </m:oMath>
                </a14:m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= 0,0017 mA và</a:t>
                </a:r>
                <a:r>
                  <a:rPr lang="en-US" sz="1600" b="0">
                    <a:solidFill>
                      <a:srgbClr val="404040"/>
                    </a:solidFill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𝐶𝐶𝑆</m:t>
                        </m:r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811</m:t>
                        </m:r>
                      </m:sub>
                    </m:sSub>
                  </m:oMath>
                </a14:m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= 0,01 mA (dòng trung bình theo datasheet SHT31, CCS811);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𝑝h</m:t>
                        </m:r>
                        <m: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ụ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404040"/>
                    </a:solidFill>
                    <a:cs typeface="Arial"/>
                  </a:rPr>
                  <a:t> </a:t>
                </a: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= 0,1 mA (điện trở kéo &amp; mạch phụ trợ).</a:t>
                </a:r>
              </a:p>
              <a:p>
                <a:pPr algn="l">
                  <a:spcBef>
                    <a:spcPts val="200"/>
                  </a:spcBef>
                </a:pP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Từ </a:t>
                </a:r>
                <a:r>
                  <a:rPr lang="en-US" sz="1600" b="0">
                    <a:solidFill>
                      <a:srgbClr val="404040"/>
                    </a:solidFill>
                    <a:cs typeface="Arial"/>
                  </a:rPr>
                  <a:t>đó</a:t>
                </a: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, thời lượng pin của SED được ước tính:</a:t>
                </a:r>
              </a:p>
              <a:p>
                <a:pPr algn="l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𝐓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=</m:t>
                      </m:r>
                      <m:f>
                        <m:fPr>
                          <m:ctrlPr>
                            <a:rPr lang="vi-V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fPr>
                        <m:num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𝐂</m:t>
                          </m:r>
                        </m:num>
                        <m:den>
                          <m:sSub>
                            <m:sSubPr>
                              <m:ctrlPr>
                                <a:rPr lang="vi-VN" sz="1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onsolas"/>
                                </a:rPr>
                              </m:ctrlPr>
                            </m:sSubPr>
                            <m:e>
                              <m:r>
                                <a:rPr lang="vi-VN" sz="16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onsolas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vi-VN" sz="16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onsolas"/>
                                </a:rPr>
                                <m:t>𝐚𝐯𝐠</m:t>
                              </m:r>
                            </m:sub>
                          </m:sSub>
                        </m:den>
                      </m:f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=</m:t>
                      </m:r>
                      <m:f>
                        <m:fPr>
                          <m:ctrlPr>
                            <a:rPr lang="vi-VN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</m:ctrlPr>
                        </m:fPr>
                        <m:num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𝟐𝟎𝟎𝟎</m:t>
                          </m:r>
                        </m:num>
                        <m:den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𝟎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,</m:t>
                          </m:r>
                          <m:r>
                            <a:rPr lang="vi-VN" sz="16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onsolas"/>
                            </a:rPr>
                            <m:t>𝟑𝟑𝟓𝟕</m:t>
                          </m:r>
                        </m:den>
                      </m:f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≈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𝟓𝟗𝟓𝟖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 </m:t>
                      </m:r>
                      <m:r>
                        <m:rPr>
                          <m:nor/>
                        </m:rPr>
                        <a:rPr lang="vi-VN" sz="1600" b="0" i="0">
                          <a:solidFill>
                            <a:srgbClr val="C00000"/>
                          </a:solidFill>
                          <a:cs typeface="Consolas"/>
                        </a:rPr>
                        <m:t>h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≈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𝟖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,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𝟑</m:t>
                      </m:r>
                      <m:r>
                        <a:rPr lang="vi-VN" sz="1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onsolas"/>
                        </a:rPr>
                        <m:t> </m:t>
                      </m:r>
                      <m:r>
                        <m:rPr>
                          <m:nor/>
                        </m:rPr>
                        <a:rPr lang="vi-VN" sz="1600" b="0" i="0">
                          <a:solidFill>
                            <a:srgbClr val="C00000"/>
                          </a:solidFill>
                          <a:cs typeface="Consolas"/>
                        </a:rPr>
                        <m:t>th</m:t>
                      </m:r>
                      <m:r>
                        <m:rPr>
                          <m:nor/>
                        </m:rPr>
                        <a:rPr lang="vi-VN" sz="1600" b="0" i="0">
                          <a:solidFill>
                            <a:srgbClr val="C00000"/>
                          </a:solidFill>
                          <a:cs typeface="Consolas"/>
                        </a:rPr>
                        <m:t>á</m:t>
                      </m:r>
                      <m:r>
                        <m:rPr>
                          <m:nor/>
                        </m:rPr>
                        <a:rPr lang="vi-VN" sz="1600" b="0" i="0">
                          <a:solidFill>
                            <a:srgbClr val="C00000"/>
                          </a:solidFill>
                          <a:cs typeface="Consolas"/>
                        </a:rPr>
                        <m:t>ng</m:t>
                      </m:r>
                    </m:oMath>
                  </m:oMathPara>
                </a14:m>
                <a:endParaRPr lang="vi-VN" sz="1600" b="0">
                  <a:solidFill>
                    <a:srgbClr val="1A1A1A"/>
                  </a:solidFill>
                  <a:cs typeface="Consolas"/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vi-VN" sz="1600" b="1">
                    <a:solidFill>
                      <a:srgbClr val="C8102E"/>
                    </a:solidFill>
                    <a:cs typeface="Arial"/>
                  </a:rPr>
                  <a:t>Trong đó:</a:t>
                </a:r>
              </a:p>
              <a:p>
                <a:pPr marL="171450" indent="-171450" algn="l">
                  <a:lnSpc>
                    <a:spcPct val="104000"/>
                  </a:lnSpc>
                  <a:spcBef>
                    <a:spcPts val="1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avg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404040"/>
                    </a:solidFill>
                    <a:cs typeface="Arial"/>
                  </a:rPr>
                  <a:t> </a:t>
                </a: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: dòng tiêu thụ trung bình của SED</a:t>
                </a:r>
              </a:p>
              <a:p>
                <a:pPr marL="171450" indent="-171450">
                  <a:lnSpc>
                    <a:spcPct val="104000"/>
                  </a:lnSpc>
                  <a:spcBef>
                    <a:spcPts val="1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n-NO" sz="160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n-NO" sz="160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n-NO" sz="160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ESP</m:t>
                        </m:r>
                      </m:sub>
                    </m:sSub>
                    <m:r>
                      <a:rPr lang="nn-NO" sz="160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Arial"/>
                      </a:rPr>
                      <m:t>, </m:t>
                    </m:r>
                    <m:sSub>
                      <m:sSubPr>
                        <m:ctrlPr>
                          <a:rPr lang="nn-NO" sz="16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n-NO" sz="160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n-NO" sz="160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SHT</m:t>
                        </m:r>
                      </m:sub>
                    </m:sSub>
                    <m:r>
                      <a:rPr lang="nn-NO" sz="160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Arial"/>
                      </a:rPr>
                      <m:t>, </m:t>
                    </m:r>
                    <m:sSub>
                      <m:sSubPr>
                        <m:ctrlPr>
                          <a:rPr lang="nn-NO" sz="16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n-NO" sz="160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n-NO" sz="160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CCS</m:t>
                        </m:r>
                      </m:sub>
                    </m:sSub>
                  </m:oMath>
                </a14:m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: dòng TB của ESP32-H2, SHT31, CCS811</a:t>
                </a:r>
              </a:p>
              <a:p>
                <a:pPr marL="171450" indent="-171450" algn="l">
                  <a:lnSpc>
                    <a:spcPct val="104000"/>
                  </a:lnSpc>
                  <a:spcBef>
                    <a:spcPts val="1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ph</m:t>
                        </m:r>
                        <m:r>
                          <a:rPr lang="en-US" sz="1600" b="0" i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ụ</m:t>
                        </m:r>
                      </m:sub>
                    </m:sSub>
                  </m:oMath>
                </a14:m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: dòng điện trở kéo &amp; nguồn phụ</a:t>
                </a:r>
              </a:p>
              <a:p>
                <a:pPr marL="171450" indent="-171450" algn="l">
                  <a:lnSpc>
                    <a:spcPct val="104000"/>
                  </a:lnSpc>
                  <a:spcBef>
                    <a:spcPts val="100"/>
                  </a:spcBef>
                  <a:buFont typeface="Arial"/>
                  <a:buChar char="•"/>
                </a:pPr>
                <a:r>
                  <a:rPr lang="vi-VN" sz="1600" b="0">
                    <a:solidFill>
                      <a:srgbClr val="404040"/>
                    </a:solidFill>
                    <a:cs typeface="Arial"/>
                  </a:rPr>
                  <a:t>C: dung lượng pin (2×AA, 2000 mAh) </a:t>
                </a:r>
                <a:endParaRPr lang="en-US" sz="1600">
                  <a:solidFill>
                    <a:srgbClr val="404040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70" name="Formula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371600"/>
                <a:ext cx="8674100" cy="4673600"/>
              </a:xfrm>
              <a:prstGeom prst="roundRect">
                <a:avLst>
                  <a:gd name="adj" fmla="val 3000"/>
                </a:avLst>
              </a:prstGeom>
              <a:blipFill>
                <a:blip r:embed="rId2"/>
                <a:stretch>
                  <a:fillRect b="-1304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043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2491B2-9400-3952-0AC8-F10CBBF3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78B357-9184-42D7-B507-E2D0DF982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38971-0642-E1AB-5F7E-C2E31CF664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762000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4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Thiết kế phần mềm</a:t>
            </a:r>
          </a:p>
          <a:p>
            <a:pPr algn="just">
              <a:buNone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6" name="Caption 3.5">
            <a:extLst>
              <a:ext uri="{FF2B5EF4-FFF2-40B4-BE49-F238E27FC236}">
                <a16:creationId xmlns:a16="http://schemas.microsoft.com/office/drawing/2014/main" id="{99F630D0-CE07-43B5-A9BF-57B4E823D3B6}"/>
              </a:ext>
            </a:extLst>
          </p:cNvPr>
          <p:cNvSpPr txBox="1"/>
          <p:nvPr/>
        </p:nvSpPr>
        <p:spPr>
          <a:xfrm>
            <a:off x="3065250" y="5918200"/>
            <a:ext cx="3013497" cy="303375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3.5 Giai đoạn khởi tạo hệ thống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FDE84A-E68D-7AAE-84D6-48A5B5A52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444" y="1296237"/>
            <a:ext cx="3123112" cy="469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63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5070-693F-DD53-B883-8B5084F9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FA3039-653C-63DF-9809-1DF3E537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F725BD-6E35-2E9F-C755-8A522FFC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ADD43-488A-3D2E-FC90-4501A82C4D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762000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4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Thiết kế phần mềm</a:t>
            </a:r>
          </a:p>
          <a:p>
            <a:pPr algn="just">
              <a:buNone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9" name="Caption 3.5">
            <a:extLst>
              <a:ext uri="{FF2B5EF4-FFF2-40B4-BE49-F238E27FC236}">
                <a16:creationId xmlns:a16="http://schemas.microsoft.com/office/drawing/2014/main" id="{63EA359B-E0D9-9E8A-B413-A1FA52814C03}"/>
              </a:ext>
            </a:extLst>
          </p:cNvPr>
          <p:cNvSpPr txBox="1"/>
          <p:nvPr/>
        </p:nvSpPr>
        <p:spPr>
          <a:xfrm>
            <a:off x="3577198" y="6082048"/>
            <a:ext cx="2716952" cy="320676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3.6 Giai đoạn giám sát nền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4CE58-B454-1366-F147-3C305AE1D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258" y="1075174"/>
            <a:ext cx="3050832" cy="500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1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ED95-CAE4-199A-CC4E-22045400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F75255-A8B9-46BB-E636-5A7C8BF4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CE50C2-03B2-FEFC-6E95-595E7DF0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63495-19EF-0CA2-304B-3C48B2AF74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762000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4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Thiết kế phần mềm</a:t>
            </a:r>
          </a:p>
          <a:p>
            <a:pPr algn="just">
              <a:buNone/>
            </a:pP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endParaRPr lang="vi-VN" sz="16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12" name="Caption 3.5">
            <a:extLst>
              <a:ext uri="{FF2B5EF4-FFF2-40B4-BE49-F238E27FC236}">
                <a16:creationId xmlns:a16="http://schemas.microsoft.com/office/drawing/2014/main" id="{0EF40414-C1BC-320D-3D0B-15B580C6B8E5}"/>
              </a:ext>
            </a:extLst>
          </p:cNvPr>
          <p:cNvSpPr txBox="1"/>
          <p:nvPr/>
        </p:nvSpPr>
        <p:spPr>
          <a:xfrm>
            <a:off x="2861363" y="6104388"/>
            <a:ext cx="3421274" cy="28575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3.7 Giai đoạn phát hiện và cảnh báo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6A5F6A-5509-D470-01E6-7B198AA3C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565" y="1320800"/>
            <a:ext cx="2977570" cy="483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28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2491B2-9400-3952-0AC8-F10CBBF3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78B357-9184-42D7-B507-E2D0DF982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38971-0642-E1AB-5F7E-C2E31CF664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431800"/>
          </a:xfrm>
        </p:spPr>
        <p:txBody>
          <a:bodyPr/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5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vi-VN" sz="2200" b="1" dirty="0">
                <a:solidFill>
                  <a:srgbClr val="C8102E"/>
                </a:solidFill>
                <a:latin typeface="Arial"/>
                <a:cs typeface="Arial"/>
              </a:rPr>
              <a:t>Web Dashboard &amp; Cảnh báo qua Telegram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8125D9-316E-E8F5-07E1-1E9976058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203742"/>
              </p:ext>
            </p:extLst>
          </p:nvPr>
        </p:nvGraphicFramePr>
        <p:xfrm>
          <a:off x="805194" y="1671439"/>
          <a:ext cx="7546311" cy="4481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747">
                  <a:extLst>
                    <a:ext uri="{9D8B030D-6E8A-4147-A177-3AD203B41FA5}">
                      <a16:colId xmlns:a16="http://schemas.microsoft.com/office/drawing/2014/main" val="4076010523"/>
                    </a:ext>
                  </a:extLst>
                </a:gridCol>
                <a:gridCol w="3012177">
                  <a:extLst>
                    <a:ext uri="{9D8B030D-6E8A-4147-A177-3AD203B41FA5}">
                      <a16:colId xmlns:a16="http://schemas.microsoft.com/office/drawing/2014/main" val="820658045"/>
                    </a:ext>
                  </a:extLst>
                </a:gridCol>
                <a:gridCol w="2590387">
                  <a:extLst>
                    <a:ext uri="{9D8B030D-6E8A-4147-A177-3AD203B41FA5}">
                      <a16:colId xmlns:a16="http://schemas.microsoft.com/office/drawing/2014/main" val="1657952910"/>
                    </a:ext>
                  </a:extLst>
                </a:gridCol>
              </a:tblGrid>
              <a:tr h="307102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Mức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Điều kiện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Hiển thị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627118"/>
                  </a:ext>
                </a:extLst>
              </a:tr>
              <a:tr h="505859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An toàn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&lt; 65°C, CO₂ &lt; 2000 ppm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HỆ THỐNG AN TOÀN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790015"/>
                  </a:ext>
                </a:extLst>
              </a:tr>
              <a:tr h="330976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 độ cao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≥ 65°C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 ĐỘ CAO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302349"/>
                  </a:ext>
                </a:extLst>
              </a:tr>
              <a:tr h="505859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CO₂ cao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CO₂ ≥ 2000 ppm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NỒNG ĐỘ CO₂ CAO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277713"/>
                  </a:ext>
                </a:extLst>
              </a:tr>
              <a:tr h="1641304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 độ cao + 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CO₂ cao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Ít nhất 1 node ở trạng thái nhiệt độ cao và ít nhất 1 node ở trạng thái 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CO₂ cao và không node nào ở trạng thái nguy cơ cháy và có cháy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 ĐỘ CAO + </a:t>
                      </a: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NỒNG ĐỘ CO₂ CAO</a:t>
                      </a:r>
                      <a:endParaRPr lang="en-US" sz="1600" b="0">
                        <a:solidFill>
                          <a:srgbClr val="0D0D0D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696529"/>
                  </a:ext>
                </a:extLst>
              </a:tr>
              <a:tr h="505859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Nguy cơ cháy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≥ 65°C và CO₂ ≥ 2000 ppm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NGUY CƠ CHÁY!</a:t>
                      </a:r>
                    </a:p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+ CÒI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661651"/>
                  </a:ext>
                </a:extLst>
              </a:tr>
              <a:tr h="573259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Có cháy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≥ 70°C và CO₂ ≥ 3000 ppm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CÓ CHÁY!</a:t>
                      </a:r>
                    </a:p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 + CÒI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1869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07EC6C-9137-4CEA-1D42-0A311D74D0F9}"/>
              </a:ext>
            </a:extLst>
          </p:cNvPr>
          <p:cNvSpPr txBox="1"/>
          <p:nvPr/>
        </p:nvSpPr>
        <p:spPr>
          <a:xfrm>
            <a:off x="2964089" y="1389620"/>
            <a:ext cx="3215821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i="1">
                <a:solidFill>
                  <a:srgbClr val="606060"/>
                </a:solidFill>
                <a:latin typeface="Arial"/>
                <a:cs typeface="Arial"/>
              </a:rPr>
              <a:t>Bảng 3.1 Ngưỡng cho Web Dashboard</a:t>
            </a:r>
          </a:p>
        </p:txBody>
      </p:sp>
    </p:spTree>
    <p:extLst>
      <p:ext uri="{BB962C8B-B14F-4D97-AF65-F5344CB8AC3E}">
        <p14:creationId xmlns:p14="http://schemas.microsoft.com/office/powerpoint/2010/main" val="360112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5D81-6909-4E51-91A5-75BA64E2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B158C0-3DC6-58B3-75A7-287B1C30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2466C-9C17-F80E-0A7C-8C09E3E5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3. Thiết kế hệ thống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2DF51-7ADB-F070-C0D5-39A4C665F8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939800"/>
            <a:ext cx="8674100" cy="431800"/>
          </a:xfrm>
        </p:spPr>
        <p:txBody>
          <a:bodyPr/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3.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5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vi-VN" sz="2200" b="1" dirty="0">
                <a:solidFill>
                  <a:srgbClr val="C8102E"/>
                </a:solidFill>
                <a:latin typeface="Arial"/>
                <a:cs typeface="Arial"/>
              </a:rPr>
              <a:t>Web Dashboard &amp; Cảnh báo qua Telegram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CA88B3-D5FF-095D-AD25-D4EFD9B4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29278"/>
              </p:ext>
            </p:extLst>
          </p:nvPr>
        </p:nvGraphicFramePr>
        <p:xfrm>
          <a:off x="1637880" y="1715734"/>
          <a:ext cx="5868237" cy="43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517">
                  <a:extLst>
                    <a:ext uri="{9D8B030D-6E8A-4147-A177-3AD203B41FA5}">
                      <a16:colId xmlns:a16="http://schemas.microsoft.com/office/drawing/2014/main" val="3996790180"/>
                    </a:ext>
                  </a:extLst>
                </a:gridCol>
                <a:gridCol w="2489555">
                  <a:extLst>
                    <a:ext uri="{9D8B030D-6E8A-4147-A177-3AD203B41FA5}">
                      <a16:colId xmlns:a16="http://schemas.microsoft.com/office/drawing/2014/main" val="2310137763"/>
                    </a:ext>
                  </a:extLst>
                </a:gridCol>
                <a:gridCol w="1867165">
                  <a:extLst>
                    <a:ext uri="{9D8B030D-6E8A-4147-A177-3AD203B41FA5}">
                      <a16:colId xmlns:a16="http://schemas.microsoft.com/office/drawing/2014/main" val="2823573328"/>
                    </a:ext>
                  </a:extLst>
                </a:gridCol>
              </a:tblGrid>
              <a:tr h="42428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Trạng thái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Điều kiện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Tin nhắn gửi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415251"/>
                  </a:ext>
                </a:extLst>
              </a:tr>
              <a:tr h="787848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An toàn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&lt; 65°C, CO₂ &lt; 2000 ppm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ĐÃ AN TOÀN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775168"/>
                  </a:ext>
                </a:extLst>
              </a:tr>
              <a:tr h="787848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 độ cao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≥ 65°C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NHIỆT ĐỘ CAO!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05640"/>
                  </a:ext>
                </a:extLst>
              </a:tr>
              <a:tr h="787848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CO₂ cao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CO₂ ≥ 2000 ppm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NỒNG ĐỘ CO₂ CAO!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53886"/>
                  </a:ext>
                </a:extLst>
              </a:tr>
              <a:tr h="787848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Nguy cơ cháy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≥ 65°C và CO₂ ≥ 2000 ppm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NGUY CƠ CHÁY!</a:t>
                      </a:r>
                    </a:p>
                  </a:txBody>
                  <a:tcPr anchor="ctr"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039953"/>
                  </a:ext>
                </a:extLst>
              </a:tr>
              <a:tr h="787848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Có cháy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T ≥ 70°C và CO₂ ≥ 3000 ppm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rgbClr val="0D0D0D"/>
                          </a:solidFill>
                          <a:latin typeface="Arial"/>
                          <a:cs typeface="Arial"/>
                        </a:rPr>
                        <a:t>CÓ CHÁY!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125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066745A-E233-20AA-A897-15BA38903266}"/>
              </a:ext>
            </a:extLst>
          </p:cNvPr>
          <p:cNvSpPr txBox="1"/>
          <p:nvPr/>
        </p:nvSpPr>
        <p:spPr>
          <a:xfrm>
            <a:off x="2828523" y="1423346"/>
            <a:ext cx="3486953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i="1">
                <a:solidFill>
                  <a:srgbClr val="606060"/>
                </a:solidFill>
                <a:latin typeface="Arial"/>
                <a:cs typeface="Arial"/>
              </a:rPr>
              <a:t>Bảng 3.2 Ngưỡng cảnh báo qua Telegram</a:t>
            </a:r>
          </a:p>
        </p:txBody>
      </p:sp>
    </p:spTree>
    <p:extLst>
      <p:ext uri="{BB962C8B-B14F-4D97-AF65-F5344CB8AC3E}">
        <p14:creationId xmlns:p14="http://schemas.microsoft.com/office/powerpoint/2010/main" val="3299737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1C2DA7-6433-AB45-DEBA-4520D9D7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9DBF27-1CEA-3443-0AFE-5132D45B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</a:t>
            </a:r>
            <a:r>
              <a:rPr lang="en-US">
                <a:latin typeface="Arial"/>
                <a:cs typeface="Arial"/>
              </a:rPr>
              <a:t>ử nghiệm</a:t>
            </a:r>
            <a:endParaRPr lang="vi-VN">
              <a:latin typeface="Arial"/>
              <a:cs typeface="Arial"/>
            </a:endParaRPr>
          </a:p>
        </p:txBody>
      </p:sp>
      <p:sp>
        <p:nvSpPr>
          <p:cNvPr id="62" name="SubTitle"/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4.1 </a:t>
            </a:r>
            <a:r>
              <a:rPr lang="vi-VN" sz="2200" b="1" dirty="0">
                <a:solidFill>
                  <a:srgbClr val="C8102E"/>
                </a:solidFill>
                <a:latin typeface="Arial"/>
                <a:cs typeface="Arial"/>
              </a:rPr>
              <a:t>Mạch in &amp; sản phẩm hoàn thiện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2D0F7-FB90-9D9F-2EA4-3AF867DE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43" t="2334" r="13522" b="3745"/>
          <a:stretch>
            <a:fillRect/>
          </a:stretch>
        </p:blipFill>
        <p:spPr>
          <a:xfrm rot="10800000">
            <a:off x="3448524" y="1366388"/>
            <a:ext cx="2596155" cy="4350305"/>
          </a:xfrm>
          <a:prstGeom prst="rect">
            <a:avLst/>
          </a:prstGeom>
        </p:spPr>
      </p:pic>
      <p:sp>
        <p:nvSpPr>
          <p:cNvPr id="18" name="Caption 4.1">
            <a:extLst>
              <a:ext uri="{FF2B5EF4-FFF2-40B4-BE49-F238E27FC236}">
                <a16:creationId xmlns:a16="http://schemas.microsoft.com/office/drawing/2014/main" id="{1C2204A8-310F-4819-8831-8D353FED8A52}"/>
              </a:ext>
            </a:extLst>
          </p:cNvPr>
          <p:cNvSpPr txBox="1"/>
          <p:nvPr/>
        </p:nvSpPr>
        <p:spPr>
          <a:xfrm>
            <a:off x="2879045" y="5711481"/>
            <a:ext cx="3735114" cy="311837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4.1 Sản phẩm mạch in Border Router</a:t>
            </a:r>
          </a:p>
        </p:txBody>
      </p:sp>
    </p:spTree>
    <p:extLst>
      <p:ext uri="{BB962C8B-B14F-4D97-AF65-F5344CB8AC3E}">
        <p14:creationId xmlns:p14="http://schemas.microsoft.com/office/powerpoint/2010/main" val="1309993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714C5-DF0E-6323-A4E3-9BE6A1DC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DD62D-05FB-A2F3-9C09-08E2DC33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DD6B8B-756E-1612-EC80-1EEBF1C4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</a:t>
            </a:r>
            <a:r>
              <a:rPr lang="en-US">
                <a:latin typeface="Arial"/>
                <a:cs typeface="Arial"/>
              </a:rPr>
              <a:t>ử nghiệm</a:t>
            </a:r>
            <a:endParaRPr lang="vi-VN">
              <a:latin typeface="Arial"/>
              <a:cs typeface="Arial"/>
            </a:endParaRP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0B9E792B-4FAF-390C-2AC1-A8457D9373F1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4.1 </a:t>
            </a:r>
            <a:r>
              <a:rPr lang="vi-VN" sz="2200" b="1" dirty="0">
                <a:solidFill>
                  <a:srgbClr val="C8102E"/>
                </a:solidFill>
                <a:latin typeface="Arial"/>
                <a:cs typeface="Arial"/>
              </a:rPr>
              <a:t>Mạch in &amp; sản phẩm hoàn thiện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FC5899-9F1C-5432-A7D4-67B1CC48A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" t="5861" r="1160" b="6081"/>
          <a:stretch>
            <a:fillRect/>
          </a:stretch>
        </p:blipFill>
        <p:spPr>
          <a:xfrm>
            <a:off x="2779127" y="1415363"/>
            <a:ext cx="3598445" cy="4377863"/>
          </a:xfrm>
          <a:prstGeom prst="rect">
            <a:avLst/>
          </a:prstGeom>
        </p:spPr>
      </p:pic>
      <p:sp>
        <p:nvSpPr>
          <p:cNvPr id="12" name="Caption 4.1">
            <a:extLst>
              <a:ext uri="{FF2B5EF4-FFF2-40B4-BE49-F238E27FC236}">
                <a16:creationId xmlns:a16="http://schemas.microsoft.com/office/drawing/2014/main" id="{D0233FBC-2155-5B4A-EA23-AEFA4B0AF2AF}"/>
              </a:ext>
            </a:extLst>
          </p:cNvPr>
          <p:cNvSpPr txBox="1"/>
          <p:nvPr/>
        </p:nvSpPr>
        <p:spPr>
          <a:xfrm>
            <a:off x="3036132" y="5793226"/>
            <a:ext cx="3055620" cy="311837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4.2 Sản phẩm mạch in Router</a:t>
            </a:r>
          </a:p>
        </p:txBody>
      </p:sp>
    </p:spTree>
    <p:extLst>
      <p:ext uri="{BB962C8B-B14F-4D97-AF65-F5344CB8AC3E}">
        <p14:creationId xmlns:p14="http://schemas.microsoft.com/office/powerpoint/2010/main" val="2338654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C075-B463-4347-794A-86B5BB49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91699F-178C-3A96-1E1A-3A97174B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CF5961-BA70-2CD1-D1B5-AF6D6F68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</a:t>
            </a:r>
            <a:r>
              <a:rPr lang="en-US">
                <a:latin typeface="Arial"/>
                <a:cs typeface="Arial"/>
              </a:rPr>
              <a:t>ử nghiệm</a:t>
            </a:r>
            <a:endParaRPr lang="vi-VN">
              <a:latin typeface="Arial"/>
              <a:cs typeface="Arial"/>
            </a:endParaRP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DAE2C66E-73E5-7879-41C2-859EBEE3CA0A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4.1 </a:t>
            </a:r>
            <a:r>
              <a:rPr lang="vi-VN" sz="2200" b="1" dirty="0">
                <a:solidFill>
                  <a:srgbClr val="C8102E"/>
                </a:solidFill>
                <a:latin typeface="Arial"/>
                <a:cs typeface="Arial"/>
              </a:rPr>
              <a:t>Mạch in &amp; sản phẩm hoàn thiện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0C4C075-875E-AC9A-1588-633A0B70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3" t="14444" r="2332" b="20601"/>
          <a:stretch>
            <a:fillRect/>
          </a:stretch>
        </p:blipFill>
        <p:spPr>
          <a:xfrm rot="16200000">
            <a:off x="2342944" y="1562165"/>
            <a:ext cx="4339881" cy="3958751"/>
          </a:xfrm>
          <a:prstGeom prst="rect">
            <a:avLst/>
          </a:prstGeom>
        </p:spPr>
      </p:pic>
      <p:sp>
        <p:nvSpPr>
          <p:cNvPr id="13" name="Caption 4.1">
            <a:extLst>
              <a:ext uri="{FF2B5EF4-FFF2-40B4-BE49-F238E27FC236}">
                <a16:creationId xmlns:a16="http://schemas.microsoft.com/office/drawing/2014/main" id="{90EF2DD1-9F4B-167E-B8A7-0AFCDCED772D}"/>
              </a:ext>
            </a:extLst>
          </p:cNvPr>
          <p:cNvSpPr txBox="1"/>
          <p:nvPr/>
        </p:nvSpPr>
        <p:spPr>
          <a:xfrm>
            <a:off x="3155610" y="5705450"/>
            <a:ext cx="2845480" cy="311837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4.3 Sản phẩm mạch in SED</a:t>
            </a:r>
          </a:p>
        </p:txBody>
      </p:sp>
    </p:spTree>
    <p:extLst>
      <p:ext uri="{BB962C8B-B14F-4D97-AF65-F5344CB8AC3E}">
        <p14:creationId xmlns:p14="http://schemas.microsoft.com/office/powerpoint/2010/main" val="2028300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1C2DA7-6433-AB45-DEBA-4520D9D7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9DBF27-1CEA-3443-0AFE-5132D45B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</a:t>
            </a:r>
            <a:r>
              <a:rPr lang="en-US">
                <a:latin typeface="Arial"/>
                <a:cs typeface="Arial"/>
              </a:rPr>
              <a:t>ử nghiệm</a:t>
            </a:r>
            <a:endParaRPr lang="vi-VN">
              <a:latin typeface="Arial"/>
              <a:cs typeface="Arial"/>
            </a:endParaRPr>
          </a:p>
        </p:txBody>
      </p:sp>
      <p:sp>
        <p:nvSpPr>
          <p:cNvPr id="62" name="SubTitle"/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4.2 Kết quả đọc cảm biến &amp; </a:t>
            </a:r>
            <a:r>
              <a:rPr lang="en-US" sz="2000" b="1" err="1">
                <a:solidFill>
                  <a:srgbClr val="C8102E"/>
                </a:solidFill>
                <a:latin typeface="Arial"/>
                <a:cs typeface="Arial"/>
              </a:rPr>
              <a:t>phục</a:t>
            </a:r>
            <a:r>
              <a:rPr lang="en-US" sz="20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rgbClr val="C8102E"/>
                </a:solidFill>
                <a:latin typeface="Arial"/>
                <a:cs typeface="Arial"/>
              </a:rPr>
              <a:t>hồi</a:t>
            </a:r>
            <a:r>
              <a:rPr lang="en-US" sz="20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mạng Thread</a:t>
            </a:r>
          </a:p>
        </p:txBody>
      </p:sp>
      <p:sp>
        <p:nvSpPr>
          <p:cNvPr id="4" name="Caption 4.7">
            <a:extLst>
              <a:ext uri="{FF2B5EF4-FFF2-40B4-BE49-F238E27FC236}">
                <a16:creationId xmlns:a16="http://schemas.microsoft.com/office/drawing/2014/main" id="{DBA576EA-A6C6-4C2E-B455-BD1FF04A5AA9}"/>
              </a:ext>
            </a:extLst>
          </p:cNvPr>
          <p:cNvSpPr txBox="1"/>
          <p:nvPr/>
        </p:nvSpPr>
        <p:spPr>
          <a:xfrm>
            <a:off x="2919312" y="5504390"/>
            <a:ext cx="3318075" cy="260706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4.4 Kết quả đọc cảm biến tại Node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35D38-1454-8939-4B3F-4032FC4F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34" y="1681288"/>
            <a:ext cx="8500832" cy="382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69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BCEC-E2A1-E2F0-1E2C-ED5E2C9DB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17316F-08AE-8C1F-3410-70334F4F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8C3B4F-94FA-9BF0-42E6-36714EF7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</a:t>
            </a:r>
            <a:r>
              <a:rPr lang="en-US">
                <a:latin typeface="Arial"/>
                <a:cs typeface="Arial"/>
              </a:rPr>
              <a:t>ử nghiệm</a:t>
            </a:r>
            <a:endParaRPr lang="vi-VN">
              <a:latin typeface="Arial"/>
              <a:cs typeface="Arial"/>
            </a:endParaRP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5A5A0CBC-1A69-6E66-5398-8D0CB07346CD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4.2 Kết quả đọc cảm biến &amp; </a:t>
            </a:r>
            <a:r>
              <a:rPr lang="en-US" sz="2000" b="1" err="1">
                <a:solidFill>
                  <a:srgbClr val="C8102E"/>
                </a:solidFill>
                <a:latin typeface="Arial"/>
                <a:cs typeface="Arial"/>
              </a:rPr>
              <a:t>phục</a:t>
            </a:r>
            <a:r>
              <a:rPr lang="en-US" sz="20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rgbClr val="C8102E"/>
                </a:solidFill>
                <a:latin typeface="Arial"/>
                <a:cs typeface="Arial"/>
              </a:rPr>
              <a:t>hồi</a:t>
            </a:r>
            <a:r>
              <a:rPr lang="en-US" sz="2000" b="1">
                <a:solidFill>
                  <a:srgbClr val="C8102E"/>
                </a:solidFill>
                <a:latin typeface="Arial"/>
                <a:cs typeface="Arial"/>
              </a:rPr>
              <a:t> </a:t>
            </a: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mạng Thread</a:t>
            </a:r>
          </a:p>
        </p:txBody>
      </p:sp>
      <p:sp>
        <p:nvSpPr>
          <p:cNvPr id="5" name="Caption 4.9">
            <a:extLst>
              <a:ext uri="{FF2B5EF4-FFF2-40B4-BE49-F238E27FC236}">
                <a16:creationId xmlns:a16="http://schemas.microsoft.com/office/drawing/2014/main" id="{A062A2B9-0003-4D1B-AF85-BB1BEEAE8704}"/>
              </a:ext>
            </a:extLst>
          </p:cNvPr>
          <p:cNvSpPr txBox="1"/>
          <p:nvPr/>
        </p:nvSpPr>
        <p:spPr>
          <a:xfrm>
            <a:off x="2972966" y="5456237"/>
            <a:ext cx="3226348" cy="263525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4.5 Giao diện Web khi mất Router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933228-C9DA-B4BB-5A2A-9F258141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77" y="1519237"/>
            <a:ext cx="8702127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05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B245E-C26D-14A7-9C55-7226BA98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A3CD16-24B8-A449-6E2E-C8506102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62" name="SubTitle"/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4.3 Cảnh báo trạng thái trên Web Dashboard</a:t>
            </a:r>
          </a:p>
        </p:txBody>
      </p:sp>
      <p:sp>
        <p:nvSpPr>
          <p:cNvPr id="4" name="Caption 4.10">
            <a:extLst>
              <a:ext uri="{FF2B5EF4-FFF2-40B4-BE49-F238E27FC236}">
                <a16:creationId xmlns:a16="http://schemas.microsoft.com/office/drawing/2014/main" id="{9BA3D4FC-443C-46F1-8451-77A8AFD0FF37}"/>
              </a:ext>
            </a:extLst>
          </p:cNvPr>
          <p:cNvSpPr txBox="1"/>
          <p:nvPr/>
        </p:nvSpPr>
        <p:spPr>
          <a:xfrm>
            <a:off x="2844482" y="5710555"/>
            <a:ext cx="3455035" cy="31369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4.6 Giao diện web khi nhiệt độ cao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20991B-9155-9DB4-A56A-8DFE2F5CF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9" y="1494155"/>
            <a:ext cx="84328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34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AB3A-0328-93F2-F949-1EC204DA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8E56BD-A7DF-260E-8EA3-9850888A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424E06-9250-17E9-E934-B36A6BF9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2E912AAC-8E11-90FF-E04A-003C00AF3AB5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4.3 Cảnh báo trạng thái trên Web Dashboard</a:t>
            </a:r>
          </a:p>
        </p:txBody>
      </p:sp>
      <p:sp>
        <p:nvSpPr>
          <p:cNvPr id="5" name="Caption 4.12">
            <a:extLst>
              <a:ext uri="{FF2B5EF4-FFF2-40B4-BE49-F238E27FC236}">
                <a16:creationId xmlns:a16="http://schemas.microsoft.com/office/drawing/2014/main" id="{6752FB74-A4D5-48EA-9E9D-0FBFA5F113E9}"/>
              </a:ext>
            </a:extLst>
          </p:cNvPr>
          <p:cNvSpPr txBox="1"/>
          <p:nvPr/>
        </p:nvSpPr>
        <p:spPr>
          <a:xfrm>
            <a:off x="2962213" y="5999782"/>
            <a:ext cx="3232274" cy="315897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4.7 Giao diện Web khi eCO</a:t>
            </a:r>
            <a:r>
              <a:rPr lang="en-US" sz="1400" i="1" baseline="-25000">
                <a:solidFill>
                  <a:srgbClr val="606060"/>
                </a:solidFill>
                <a:latin typeface="Arial"/>
                <a:cs typeface="Arial"/>
              </a:rPr>
              <a:t>2</a:t>
            </a:r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 cao</a:t>
            </a:r>
            <a:endParaRPr lang="en-US" sz="1400">
              <a:solidFill>
                <a:schemeClr val="bg2"/>
              </a:solidFill>
              <a:latin typeface="Arial"/>
              <a:cs typeface="Arial"/>
            </a:endParaRPr>
          </a:p>
          <a:p>
            <a:pPr algn="l"/>
            <a:endParaRPr lang="en-US" sz="1400" i="1">
              <a:solidFill>
                <a:srgbClr val="606060"/>
              </a:solidFill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ABBAF-3997-704E-75E4-124C903585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29" y="1371600"/>
            <a:ext cx="7792341" cy="462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4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3554B-21E3-78AF-A6A2-EA6AA1C2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68DB0F-D70E-EA4C-A78C-9284E58B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82F8E-A02E-A5AE-449C-568F66EF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889255F3-2D05-29F7-B57D-07227AC0E15E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4.3 Cảnh báo trạng thái trên Web Dashboard</a:t>
            </a:r>
          </a:p>
        </p:txBody>
      </p:sp>
      <p:sp>
        <p:nvSpPr>
          <p:cNvPr id="5" name="Caption 4.14">
            <a:extLst>
              <a:ext uri="{FF2B5EF4-FFF2-40B4-BE49-F238E27FC236}">
                <a16:creationId xmlns:a16="http://schemas.microsoft.com/office/drawing/2014/main" id="{042EC8D4-D140-413A-94A4-A30B876AA31C}"/>
              </a:ext>
            </a:extLst>
          </p:cNvPr>
          <p:cNvSpPr txBox="1"/>
          <p:nvPr/>
        </p:nvSpPr>
        <p:spPr>
          <a:xfrm>
            <a:off x="2701607" y="6047250"/>
            <a:ext cx="3753485" cy="250472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4.8 Giao diện Web khi có nguy cơ cháy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56AC6-C027-E09A-4F6A-BFC628F19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58" y="1371600"/>
            <a:ext cx="8256683" cy="467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99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0E87B-BA0F-A0EC-391B-F8D21FF0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1F8DD7-9521-04B2-6362-A32A6092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4A3F7-3390-932C-3DC5-866E6466C3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78740" y="1305192"/>
            <a:ext cx="8674100" cy="1025332"/>
          </a:xfrm>
        </p:spPr>
        <p:txBody>
          <a:bodyPr/>
          <a:lstStyle/>
          <a:p>
            <a:pPr algn="just">
              <a:lnSpc>
                <a:spcPct val="106000"/>
              </a:lnSpc>
              <a:buNone/>
            </a:pPr>
            <a:r>
              <a:rPr lang="en-US" sz="1500" b="0">
                <a:solidFill>
                  <a:srgbClr val="0D0D0D"/>
                </a:solidFill>
                <a:latin typeface="Arial"/>
                <a:cs typeface="Arial"/>
              </a:rPr>
              <a:t>	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Khi trạng thái nút thay đổi, bot Telegram gửi tin nhắn kèm tên node và thông số đo được. Nếu nút từ trạng thái cảnh báo (nhiệt độ/CO₂ cao, nguy cơ cháy, có cháy) trở về an toàn, bot gửi thêm một tin xác nhận “ĐÃ AN TOÀN” trước khi chờ lần thay đổi trạng thái tiếp theo:</a:t>
            </a:r>
          </a:p>
        </p:txBody>
      </p:sp>
      <p:sp>
        <p:nvSpPr>
          <p:cNvPr id="62" name="SubTitle"/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4.4 Cảnh báo từ xa qua Telegram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A2B88E-AA28-2443-080E-993385DD5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023" y="2221578"/>
            <a:ext cx="4893954" cy="3391624"/>
          </a:xfrm>
          <a:prstGeom prst="rect">
            <a:avLst/>
          </a:prstGeom>
        </p:spPr>
      </p:pic>
      <p:sp>
        <p:nvSpPr>
          <p:cNvPr id="5" name="Caption 4.16">
            <a:extLst>
              <a:ext uri="{FF2B5EF4-FFF2-40B4-BE49-F238E27FC236}">
                <a16:creationId xmlns:a16="http://schemas.microsoft.com/office/drawing/2014/main" id="{8C75207D-EC23-47F2-A95A-42C2207D9DF2}"/>
              </a:ext>
            </a:extLst>
          </p:cNvPr>
          <p:cNvSpPr txBox="1"/>
          <p:nvPr/>
        </p:nvSpPr>
        <p:spPr>
          <a:xfrm>
            <a:off x="2436669" y="5613202"/>
            <a:ext cx="4270658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4.9 Thông báo từ Telegram khi nhiệt độ cao</a:t>
            </a:r>
          </a:p>
        </p:txBody>
      </p:sp>
    </p:spTree>
    <p:extLst>
      <p:ext uri="{BB962C8B-B14F-4D97-AF65-F5344CB8AC3E}">
        <p14:creationId xmlns:p14="http://schemas.microsoft.com/office/powerpoint/2010/main" val="1553495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058F9-48BE-CB52-E3BC-FAC59083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F3015-ACC4-7699-C218-FB1A87C9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33D695-7792-069E-6FB8-92A0746C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AF8297CD-2314-85D2-F149-D93258DD990D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4.4 Cảnh báo từ xa qua Telegram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FB2D62-52F7-7EE3-4289-B9DCB746E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054" y="1592520"/>
            <a:ext cx="5595891" cy="4138358"/>
          </a:xfrm>
          <a:prstGeom prst="rect">
            <a:avLst/>
          </a:prstGeom>
        </p:spPr>
      </p:pic>
      <p:sp>
        <p:nvSpPr>
          <p:cNvPr id="7" name="Caption 4.16">
            <a:extLst>
              <a:ext uri="{FF2B5EF4-FFF2-40B4-BE49-F238E27FC236}">
                <a16:creationId xmlns:a16="http://schemas.microsoft.com/office/drawing/2014/main" id="{FEEA8932-0EB6-5911-2856-9766E576846D}"/>
              </a:ext>
            </a:extLst>
          </p:cNvPr>
          <p:cNvSpPr txBox="1"/>
          <p:nvPr/>
        </p:nvSpPr>
        <p:spPr>
          <a:xfrm>
            <a:off x="2471325" y="5740400"/>
            <a:ext cx="4270658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4.10 Thông báo từ Telegram khi eCO</a:t>
            </a:r>
            <a:r>
              <a:rPr lang="en-US" sz="1400" i="1" baseline="-25000">
                <a:solidFill>
                  <a:srgbClr val="606060"/>
                </a:solidFill>
                <a:latin typeface="Arial"/>
                <a:cs typeface="Arial"/>
              </a:rPr>
              <a:t>2</a:t>
            </a:r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 cao</a:t>
            </a:r>
          </a:p>
        </p:txBody>
      </p:sp>
    </p:spTree>
    <p:extLst>
      <p:ext uri="{BB962C8B-B14F-4D97-AF65-F5344CB8AC3E}">
        <p14:creationId xmlns:p14="http://schemas.microsoft.com/office/powerpoint/2010/main" val="338779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9643-2E7F-AE4D-9AB9-C0490FDC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F5156F-F7CD-D233-DB36-69B05D13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CC8214-E7C3-7E37-C00E-0CCF12D0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970C0FDA-B975-B246-30EA-720720B03B83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4.4 Cảnh báo từ xa qua Telegram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AAA8DD-C346-9A3E-88A3-97D34BC45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280" y="1371600"/>
            <a:ext cx="5792139" cy="4310430"/>
          </a:xfrm>
          <a:prstGeom prst="rect">
            <a:avLst/>
          </a:prstGeom>
        </p:spPr>
      </p:pic>
      <p:sp>
        <p:nvSpPr>
          <p:cNvPr id="4" name="Caption 4.19">
            <a:extLst>
              <a:ext uri="{FF2B5EF4-FFF2-40B4-BE49-F238E27FC236}">
                <a16:creationId xmlns:a16="http://schemas.microsoft.com/office/drawing/2014/main" id="{A487638E-BB05-4078-8B3F-54605011A7FF}"/>
              </a:ext>
            </a:extLst>
          </p:cNvPr>
          <p:cNvSpPr txBox="1"/>
          <p:nvPr/>
        </p:nvSpPr>
        <p:spPr>
          <a:xfrm>
            <a:off x="2329220" y="5682030"/>
            <a:ext cx="4485560" cy="25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4.11 Thông báo từ Telegram khi có nguy cơ cháy</a:t>
            </a:r>
          </a:p>
        </p:txBody>
      </p:sp>
    </p:spTree>
    <p:extLst>
      <p:ext uri="{BB962C8B-B14F-4D97-AF65-F5344CB8AC3E}">
        <p14:creationId xmlns:p14="http://schemas.microsoft.com/office/powerpoint/2010/main" val="1254003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BBFFB-422B-49BC-A842-71297FAC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3D8098-74B2-B964-9C17-EAB8CCEE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605E6-89D7-CD87-B62B-9EAE3F5E2E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299" y="1447800"/>
            <a:ext cx="8674099" cy="2743200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1800" b="1">
                <a:solidFill>
                  <a:srgbClr val="C8102E"/>
                </a:solidFill>
                <a:latin typeface="Arial"/>
                <a:cs typeface="Arial"/>
              </a:rPr>
              <a:t>Hiệu quả năng lượng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SED phần lớn thời gian ở chế độ ngủ, chỉ thức dậy trong khoảng thời gian rất ngắn theo chu kỳ.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Truyền gián tiếp (Router giữ gói hộ) giúp SED tắt sóng radio và ngủ lại ngay sau khi gửi.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Thời lượng pin đủ dài cho vận hành thực tế, tùy theo tần suất báo động.</a:t>
            </a:r>
          </a:p>
        </p:txBody>
      </p:sp>
      <p:sp>
        <p:nvSpPr>
          <p:cNvPr id="62" name="SubTitle"/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4.5 Đánh giá chung &amp; hiệu quả năng lượng</a:t>
            </a:r>
          </a:p>
        </p:txBody>
      </p:sp>
    </p:spTree>
    <p:extLst>
      <p:ext uri="{BB962C8B-B14F-4D97-AF65-F5344CB8AC3E}">
        <p14:creationId xmlns:p14="http://schemas.microsoft.com/office/powerpoint/2010/main" val="550816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9536A-99E0-196E-4075-CEE018F7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ABFF5C-8E8C-1C7D-EF69-4A78C5E5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E36E2B-248D-4FDD-2C47-55F1797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4. Kết quả thử nghiệm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5797C-C920-368A-3A00-49379DEB38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1447800"/>
            <a:ext cx="4178301" cy="2794000"/>
          </a:xfrm>
        </p:spPr>
        <p:txBody>
          <a:bodyPr/>
          <a:lstStyle/>
          <a:p>
            <a:pPr algn="l">
              <a:spcAft>
                <a:spcPts val="500"/>
              </a:spcAft>
              <a:buNone/>
            </a:pPr>
            <a:r>
              <a:rPr lang="vi-VN" sz="1800" b="1">
                <a:solidFill>
                  <a:srgbClr val="C8102E"/>
                </a:solidFill>
                <a:latin typeface="Arial"/>
                <a:cs typeface="Arial"/>
              </a:rPr>
              <a:t>Hiệu quả năng lượng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SED phần lớn thời gian ở chế độ ngủ, chỉ thức dậy trong khoảng thời gian rất ngắn theo chu kỳ.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Truyền gián tiếp (Router giữ gói hộ) giúp SED tắt sóng radio và ngủ lại ngay sau khi gửi.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Thời lượng pin đủ dài cho vận hành thực tế, tùy theo tần suất báo động.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4E413E2E-0E6D-89A7-751F-45F7C990443A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4.5 Đánh giá chung &amp; hiệu quả năng lượng</a:t>
            </a:r>
          </a:p>
        </p:txBody>
      </p:sp>
      <p:sp>
        <p:nvSpPr>
          <p:cNvPr id="61" name="RightCol">
            <a:extLst>
              <a:ext uri="{FF2B5EF4-FFF2-40B4-BE49-F238E27FC236}">
                <a16:creationId xmlns:a16="http://schemas.microsoft.com/office/drawing/2014/main" id="{950847A1-F461-2C92-FD6C-6566E623FC63}"/>
              </a:ext>
            </a:extLst>
          </p:cNvPr>
          <p:cNvSpPr txBox="1"/>
          <p:nvPr/>
        </p:nvSpPr>
        <p:spPr>
          <a:xfrm>
            <a:off x="4724400" y="1447800"/>
            <a:ext cx="4191000" cy="38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vi-VN" sz="1800" b="1">
                <a:solidFill>
                  <a:srgbClr val="C8102E"/>
                </a:solidFill>
                <a:latin typeface="Arial"/>
                <a:cs typeface="Arial"/>
              </a:rPr>
              <a:t>Độ tin cậy &amp; độ trễ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Gia nhập mạng nhanh chóng, tự phục hồi kịp thời khi mất kết nối.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Tỷ lệ truyền nhận gói tin cao và ổn định.</a:t>
            </a:r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Độ trễ từ lúc phát hiện đến khi phát cảnh báo ở mức thấp.</a:t>
            </a:r>
          </a:p>
        </p:txBody>
      </p:sp>
      <p:sp>
        <p:nvSpPr>
          <p:cNvPr id="70" name="Closing">
            <a:extLst>
              <a:ext uri="{FF2B5EF4-FFF2-40B4-BE49-F238E27FC236}">
                <a16:creationId xmlns:a16="http://schemas.microsoft.com/office/drawing/2014/main" id="{E4596677-CFA4-C7E0-BDA8-150B871F0AD3}"/>
              </a:ext>
            </a:extLst>
          </p:cNvPr>
          <p:cNvSpPr txBox="1"/>
          <p:nvPr/>
        </p:nvSpPr>
        <p:spPr>
          <a:xfrm>
            <a:off x="241300" y="4318000"/>
            <a:ext cx="8674100" cy="812800"/>
          </a:xfrm>
          <a:prstGeom prst="rect">
            <a:avLst/>
          </a:prstGeom>
          <a:solidFill>
            <a:srgbClr val="FBEBED"/>
          </a:solidFill>
          <a:ln>
            <a:noFill/>
          </a:ln>
        </p:spPr>
        <p:txBody>
          <a:bodyPr wrap="square" lIns="91440" tIns="27432" rIns="91440" bIns="27432" anchor="ctr"/>
          <a:lstStyle/>
          <a:p>
            <a:pPr algn="just"/>
            <a:r>
              <a:rPr lang="vi-VN" sz="1600" b="1">
                <a:solidFill>
                  <a:srgbClr val="C8102E"/>
                </a:solidFill>
                <a:latin typeface="Arial"/>
                <a:cs typeface="Arial"/>
              </a:rPr>
              <a:t>Kết luận: 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giải pháp mạng Thread kết hợp nút SED khả thi, tin cậy và bền bỉ trên pin</a:t>
            </a: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,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 đáp ứng yêu cầu thiết bị PCCC.</a:t>
            </a:r>
          </a:p>
        </p:txBody>
      </p:sp>
    </p:spTree>
    <p:extLst>
      <p:ext uri="{BB962C8B-B14F-4D97-AF65-F5344CB8AC3E}">
        <p14:creationId xmlns:p14="http://schemas.microsoft.com/office/powerpoint/2010/main" val="1381084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1456D9-8FD2-E6DD-F2CB-AC49D130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5E87AF-80BF-268B-4B05-8F89023F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5. Kết luận</a:t>
            </a:r>
            <a:r>
              <a:rPr lang="en-US">
                <a:latin typeface="Arial"/>
                <a:cs typeface="Arial"/>
              </a:rPr>
              <a:t>, hạn chế</a:t>
            </a:r>
            <a:r>
              <a:rPr lang="vi-VN">
                <a:latin typeface="Arial"/>
                <a:cs typeface="Arial"/>
              </a:rPr>
              <a:t> và hướng phát triển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23E2F-A88A-4E35-69E4-9EA013915D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00" y="1396999"/>
            <a:ext cx="8674100" cy="3546789"/>
          </a:xfrm>
        </p:spPr>
        <p:txBody>
          <a:bodyPr/>
          <a:lstStyle/>
          <a:p>
            <a:pPr algn="l">
              <a:spcAft>
                <a:spcPts val="700"/>
              </a:spcAft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Đã thực hiện được</a:t>
            </a:r>
          </a:p>
          <a:p>
            <a:pPr marL="285750" indent="-285750" algn="l">
              <a:lnSpc>
                <a:spcPct val="120000"/>
              </a:lnSpc>
              <a:spcBef>
                <a:spcPts val="1100"/>
              </a:spcBef>
              <a:buFont typeface="Arial"/>
              <a:buChar char="•"/>
            </a:pPr>
            <a:r>
              <a:rPr lang="vi-VN" sz="1900" b="0">
                <a:solidFill>
                  <a:srgbClr val="0D0D0D"/>
                </a:solidFill>
                <a:latin typeface="Arial"/>
                <a:cs typeface="Arial"/>
              </a:rPr>
              <a:t>Làm chủ mạng Mesh OpenThread &amp; cơ chế SED tiết kiệm năng lượng.</a:t>
            </a:r>
          </a:p>
          <a:p>
            <a:pPr marL="285750" indent="-285750" algn="l">
              <a:lnSpc>
                <a:spcPct val="120000"/>
              </a:lnSpc>
              <a:spcBef>
                <a:spcPts val="1100"/>
              </a:spcBef>
              <a:buFont typeface="Arial"/>
              <a:buChar char="•"/>
            </a:pPr>
            <a:r>
              <a:rPr lang="vi-VN" sz="1900" b="0">
                <a:solidFill>
                  <a:srgbClr val="0D0D0D"/>
                </a:solidFill>
                <a:latin typeface="Arial"/>
                <a:cs typeface="Arial"/>
              </a:rPr>
              <a:t>Hoàn thiện phần cứng: sơ đồ nguyên lý, </a:t>
            </a:r>
            <a:r>
              <a:rPr lang="en-US" sz="1900" b="0">
                <a:solidFill>
                  <a:srgbClr val="0D0D0D"/>
                </a:solidFill>
                <a:latin typeface="Arial"/>
                <a:cs typeface="Arial"/>
              </a:rPr>
              <a:t>triển khai </a:t>
            </a:r>
            <a:r>
              <a:rPr lang="en-US" sz="1900">
                <a:solidFill>
                  <a:srgbClr val="0D0D0D"/>
                </a:solidFill>
                <a:latin typeface="Arial"/>
                <a:cs typeface="Arial"/>
              </a:rPr>
              <a:t>mạch in</a:t>
            </a:r>
            <a:r>
              <a:rPr lang="vi-VN" sz="1900" b="0">
                <a:solidFill>
                  <a:srgbClr val="0D0D0D"/>
                </a:solidFill>
                <a:latin typeface="Arial"/>
                <a:cs typeface="Arial"/>
              </a:rPr>
              <a:t>, tích hợp SHT31 &amp; CCS811 chạy pin AA.</a:t>
            </a:r>
          </a:p>
          <a:p>
            <a:pPr marL="285750" indent="-285750" algn="l">
              <a:lnSpc>
                <a:spcPct val="120000"/>
              </a:lnSpc>
              <a:spcBef>
                <a:spcPts val="1100"/>
              </a:spcBef>
              <a:buFont typeface="Arial"/>
              <a:buChar char="•"/>
            </a:pPr>
            <a:r>
              <a:rPr lang="vi-VN" sz="1900" b="0">
                <a:solidFill>
                  <a:srgbClr val="0D0D0D"/>
                </a:solidFill>
                <a:latin typeface="Arial"/>
                <a:cs typeface="Arial"/>
              </a:rPr>
              <a:t>Border Router cầu nối CoAP→MQTT (HiveMQ) + Web Dashboard + cảnh báo Telegram.</a:t>
            </a:r>
          </a:p>
          <a:p>
            <a:pPr marL="285750" indent="-285750" algn="l">
              <a:lnSpc>
                <a:spcPct val="120000"/>
              </a:lnSpc>
              <a:spcBef>
                <a:spcPts val="1100"/>
              </a:spcBef>
              <a:buFont typeface="Arial"/>
              <a:buChar char="•"/>
            </a:pPr>
            <a:r>
              <a:rPr lang="vi-VN" sz="1900" b="0">
                <a:solidFill>
                  <a:srgbClr val="0D0D0D"/>
                </a:solidFill>
                <a:latin typeface="Arial"/>
                <a:cs typeface="Arial"/>
              </a:rPr>
              <a:t>Thực nghiệm đạt: độ trễ vài giây, </a:t>
            </a:r>
            <a:r>
              <a:rPr lang="en-US" sz="1900" b="0">
                <a:solidFill>
                  <a:srgbClr val="0D0D0D"/>
                </a:solidFill>
                <a:latin typeface="Arial"/>
                <a:cs typeface="Arial"/>
              </a:rPr>
              <a:t>tỷ lệ gửi gói tin MQTT</a:t>
            </a:r>
            <a:r>
              <a:rPr lang="vi-VN" sz="1900" b="0">
                <a:solidFill>
                  <a:srgbClr val="0D0D0D"/>
                </a:solidFill>
                <a:latin typeface="Arial"/>
                <a:cs typeface="Arial"/>
              </a:rPr>
              <a:t> cao, tự phục hồi </a:t>
            </a:r>
            <a:r>
              <a:rPr lang="en-US" sz="1900">
                <a:solidFill>
                  <a:srgbClr val="0D0D0D"/>
                </a:solidFill>
                <a:latin typeface="Arial"/>
                <a:cs typeface="Arial"/>
              </a:rPr>
              <a:t>cao</a:t>
            </a:r>
          </a:p>
          <a:p>
            <a:pPr marL="285750" indent="-285750" algn="l">
              <a:lnSpc>
                <a:spcPct val="120000"/>
              </a:lnSpc>
              <a:spcBef>
                <a:spcPts val="1100"/>
              </a:spcBef>
              <a:buFont typeface="Arial"/>
              <a:buChar char="•"/>
            </a:pPr>
            <a:r>
              <a:rPr lang="en-US" sz="1900">
                <a:solidFill>
                  <a:srgbClr val="0D0D0D"/>
                </a:solidFill>
                <a:latin typeface="Arial"/>
                <a:cs typeface="Arial"/>
              </a:rPr>
              <a:t>Thiết kế vỏ hộp 3D cho mạch in đảm bảo mạch có thể sử dụng lâu dài.</a:t>
            </a:r>
          </a:p>
          <a:p>
            <a:pPr marL="285750" indent="-285750" algn="l">
              <a:lnSpc>
                <a:spcPct val="120000"/>
              </a:lnSpc>
              <a:spcBef>
                <a:spcPts val="1100"/>
              </a:spcBef>
              <a:buFont typeface="Arial"/>
              <a:buChar char="•"/>
            </a:pPr>
            <a:endParaRPr lang="vi-VN" sz="1900" b="0">
              <a:solidFill>
                <a:srgbClr val="0D0D0D"/>
              </a:solidFill>
              <a:latin typeface="Arial"/>
              <a:cs typeface="Arial"/>
            </a:endParaRPr>
          </a:p>
        </p:txBody>
      </p:sp>
      <p:sp>
        <p:nvSpPr>
          <p:cNvPr id="62" name="SubTitle"/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000" b="1">
                <a:solidFill>
                  <a:srgbClr val="C8102E"/>
                </a:solidFill>
                <a:latin typeface="Arial"/>
                <a:cs typeface="Arial"/>
              </a:rPr>
              <a:t>5.1 Kết quả đạt được</a:t>
            </a:r>
          </a:p>
        </p:txBody>
      </p:sp>
      <p:sp>
        <p:nvSpPr>
          <p:cNvPr id="70" name="Closing"/>
          <p:cNvSpPr txBox="1"/>
          <p:nvPr/>
        </p:nvSpPr>
        <p:spPr>
          <a:xfrm>
            <a:off x="241300" y="5072297"/>
            <a:ext cx="8674100" cy="889000"/>
          </a:xfrm>
          <a:prstGeom prst="rect">
            <a:avLst/>
          </a:prstGeom>
          <a:solidFill>
            <a:srgbClr val="FBEBED"/>
          </a:solidFill>
          <a:ln>
            <a:noFill/>
          </a:ln>
        </p:spPr>
        <p:txBody>
          <a:bodyPr wrap="square" lIns="91440" tIns="27432" rIns="91440" bIns="27432" anchor="ctr"/>
          <a:lstStyle/>
          <a:p>
            <a:pPr algn="just"/>
            <a:r>
              <a:rPr lang="vi-VN" sz="1600" b="1">
                <a:solidFill>
                  <a:srgbClr val="C8102E"/>
                </a:solidFill>
                <a:latin typeface="Arial"/>
                <a:cs typeface="Arial"/>
              </a:rPr>
              <a:t>Kết luận: 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Đề tài cơ bản đạt các mục tiêu đề ra </a:t>
            </a:r>
            <a:r>
              <a:rPr lang="en-US" sz="1600" b="0">
                <a:solidFill>
                  <a:srgbClr val="0D0D0D"/>
                </a:solidFill>
                <a:latin typeface="Arial"/>
                <a:cs typeface="Arial"/>
              </a:rPr>
              <a:t>-</a:t>
            </a:r>
            <a:r>
              <a:rPr lang="vi-VN" sz="1600" b="0">
                <a:solidFill>
                  <a:srgbClr val="0D0D0D"/>
                </a:solidFill>
                <a:latin typeface="Arial"/>
                <a:cs typeface="Arial"/>
              </a:rPr>
              <a:t> giải pháp báo cháy không dây trên mạng Thread khả thi, tin cậy và tiết kiệm năng lượng; các hạn chế hoàn toàn có thể khắc phục ở giai đoạn sau.</a:t>
            </a:r>
          </a:p>
        </p:txBody>
      </p:sp>
    </p:spTree>
    <p:extLst>
      <p:ext uri="{BB962C8B-B14F-4D97-AF65-F5344CB8AC3E}">
        <p14:creationId xmlns:p14="http://schemas.microsoft.com/office/powerpoint/2010/main" val="375971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1F3AEB-08CC-58B1-ACAB-64C2E5A7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F6B6DF-D807-460A-AA79-9B2989C0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5. Kết luận</a:t>
            </a:r>
            <a:r>
              <a:rPr lang="en-US">
                <a:latin typeface="Arial"/>
                <a:cs typeface="Arial"/>
              </a:rPr>
              <a:t>, hạn chế</a:t>
            </a:r>
            <a:r>
              <a:rPr lang="vi-VN">
                <a:latin typeface="Arial"/>
                <a:cs typeface="Arial"/>
              </a:rPr>
              <a:t> và hướng phát triển</a:t>
            </a:r>
          </a:p>
        </p:txBody>
      </p:sp>
      <p:sp>
        <p:nvSpPr>
          <p:cNvPr id="62" name="SubTitle"/>
          <p:cNvSpPr txBox="1"/>
          <p:nvPr/>
        </p:nvSpPr>
        <p:spPr>
          <a:xfrm>
            <a:off x="235077" y="851884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5.2 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Hạn chế và h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ướng phát triển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7B924-B309-40CB-BD7F-9B73200043E1}"/>
              </a:ext>
            </a:extLst>
          </p:cNvPr>
          <p:cNvSpPr txBox="1"/>
          <p:nvPr/>
        </p:nvSpPr>
        <p:spPr>
          <a:xfrm>
            <a:off x="192934" y="1598008"/>
            <a:ext cx="2673287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buNone/>
            </a:pPr>
            <a:r>
              <a:rPr lang="vi-VN" sz="1600">
                <a:latin typeface="Arial"/>
                <a:cs typeface="Arial"/>
              </a:rPr>
              <a:t>Hệ thống mới cảnh báo khi vượt ngưỡng cố định, chưa dự đoán sớm nguy cơ cháy:</a:t>
            </a:r>
          </a:p>
        </p:txBody>
      </p:sp>
      <p:sp>
        <p:nvSpPr>
          <p:cNvPr id="4" name="Caption 5.1">
            <a:extLst>
              <a:ext uri="{FF2B5EF4-FFF2-40B4-BE49-F238E27FC236}">
                <a16:creationId xmlns:a16="http://schemas.microsoft.com/office/drawing/2014/main" id="{3CC4677D-7A81-4B84-8D64-819440666BFD}"/>
              </a:ext>
            </a:extLst>
          </p:cNvPr>
          <p:cNvSpPr txBox="1"/>
          <p:nvPr/>
        </p:nvSpPr>
        <p:spPr>
          <a:xfrm>
            <a:off x="2436043" y="5959561"/>
            <a:ext cx="4271912" cy="365124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5.1 Mô phỏng mô hình học máy dự đoán cháy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A16BE-193C-3B65-0923-72BBDEAA1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692" y="1233717"/>
            <a:ext cx="3152615" cy="47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77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FE99-5999-D6FB-780A-5FBF0F9E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DF9FB-7D36-3060-1D5F-C674F121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CD33ED-3613-A4AE-A374-3A1F1494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5. Kết luận</a:t>
            </a:r>
            <a:r>
              <a:rPr lang="en-US">
                <a:latin typeface="Arial"/>
                <a:cs typeface="Arial"/>
              </a:rPr>
              <a:t>, hạn chế</a:t>
            </a:r>
            <a:r>
              <a:rPr lang="vi-VN">
                <a:latin typeface="Arial"/>
                <a:cs typeface="Arial"/>
              </a:rPr>
              <a:t> và hướng phát triển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53762E44-5C0C-51C5-CA3A-D98AB26C5DDB}"/>
              </a:ext>
            </a:extLst>
          </p:cNvPr>
          <p:cNvSpPr txBox="1"/>
          <p:nvPr/>
        </p:nvSpPr>
        <p:spPr>
          <a:xfrm>
            <a:off x="235077" y="845666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5.2 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Hạn chế và h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ướng phát triển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55F3E-8C72-29E1-EEEE-C66543F8CDF0}"/>
              </a:ext>
            </a:extLst>
          </p:cNvPr>
          <p:cNvSpPr txBox="1"/>
          <p:nvPr/>
        </p:nvSpPr>
        <p:spPr>
          <a:xfrm>
            <a:off x="636340" y="1226666"/>
            <a:ext cx="3150111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buNone/>
            </a:pPr>
            <a:r>
              <a:rPr lang="vi-VN" sz="1600">
                <a:latin typeface="Arial"/>
                <a:cs typeface="Arial"/>
              </a:rPr>
              <a:t>Cảm biến khói, khí gas và ngọn lửa trực tiếp chưa được tích hợp để mở rộng phát hiện:</a:t>
            </a:r>
          </a:p>
        </p:txBody>
      </p:sp>
      <p:sp>
        <p:nvSpPr>
          <p:cNvPr id="5" name="Caption 5.3">
            <a:extLst>
              <a:ext uri="{FF2B5EF4-FFF2-40B4-BE49-F238E27FC236}">
                <a16:creationId xmlns:a16="http://schemas.microsoft.com/office/drawing/2014/main" id="{DAA47A00-9130-477C-9C86-0438879D3ECF}"/>
              </a:ext>
            </a:extLst>
          </p:cNvPr>
          <p:cNvSpPr txBox="1"/>
          <p:nvPr/>
        </p:nvSpPr>
        <p:spPr>
          <a:xfrm>
            <a:off x="3977370" y="6042243"/>
            <a:ext cx="4570343" cy="2413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5.2 Mô phỏng mô hình hệ thống mở rộng cảm biến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59BCE0-EF64-5786-F3BD-5B6AA39DC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32445"/>
            <a:ext cx="3381084" cy="507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8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1C38-6BAA-F4FB-689C-412DD62D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99D0E-6B7C-A697-FA00-B1E1451D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29AFED-DC93-459C-0E81-FE9F976F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Arial"/>
                <a:cs typeface="Arial"/>
              </a:rPr>
              <a:t>5. Kết luận</a:t>
            </a:r>
            <a:r>
              <a:rPr lang="en-US">
                <a:latin typeface="Arial"/>
                <a:cs typeface="Arial"/>
              </a:rPr>
              <a:t>, hạn chế</a:t>
            </a:r>
            <a:r>
              <a:rPr lang="vi-VN">
                <a:latin typeface="Arial"/>
                <a:cs typeface="Arial"/>
              </a:rPr>
              <a:t> và hướng phát triển</a:t>
            </a: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39267F2D-5139-6B5E-664E-1E156C152C78}"/>
              </a:ext>
            </a:extLst>
          </p:cNvPr>
          <p:cNvSpPr txBox="1"/>
          <p:nvPr/>
        </p:nvSpPr>
        <p:spPr>
          <a:xfrm>
            <a:off x="241300" y="990600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5.2 </a:t>
            </a:r>
            <a:r>
              <a:rPr lang="en-US" sz="2200" b="1">
                <a:solidFill>
                  <a:srgbClr val="C8102E"/>
                </a:solidFill>
                <a:latin typeface="Arial"/>
                <a:cs typeface="Arial"/>
              </a:rPr>
              <a:t>Hạn chế và h</a:t>
            </a: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ướng phát triển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07610-6148-5C0F-8A2C-A7C233F8EBA8}"/>
              </a:ext>
            </a:extLst>
          </p:cNvPr>
          <p:cNvSpPr txBox="1"/>
          <p:nvPr/>
        </p:nvSpPr>
        <p:spPr>
          <a:xfrm>
            <a:off x="643094" y="1371600"/>
            <a:ext cx="250204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buNone/>
            </a:pPr>
            <a:r>
              <a:rPr lang="vi-VN" sz="1600">
                <a:latin typeface="Arial"/>
                <a:cs typeface="Arial"/>
              </a:rPr>
              <a:t>Giám sát, cảnh báo còn phụ thuộc hoàn toàn vào Internet qua Dashboard và Telegram:</a:t>
            </a:r>
          </a:p>
        </p:txBody>
      </p:sp>
      <p:sp>
        <p:nvSpPr>
          <p:cNvPr id="5" name="Caption 5.5">
            <a:extLst>
              <a:ext uri="{FF2B5EF4-FFF2-40B4-BE49-F238E27FC236}">
                <a16:creationId xmlns:a16="http://schemas.microsoft.com/office/drawing/2014/main" id="{BFB534C3-98D3-4DC9-96D3-B9913F986A24}"/>
              </a:ext>
            </a:extLst>
          </p:cNvPr>
          <p:cNvSpPr txBox="1"/>
          <p:nvPr/>
        </p:nvSpPr>
        <p:spPr>
          <a:xfrm>
            <a:off x="4805780" y="5991789"/>
            <a:ext cx="3949736" cy="29845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606060"/>
                </a:solidFill>
                <a:latin typeface="Arial"/>
                <a:cs typeface="Arial"/>
              </a:rPr>
              <a:t>Hình 5.3 Mô phỏng mô hình quản lý đa nền tảng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7A9BC0-A7F8-498E-7D52-55D33968E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91" y="850940"/>
            <a:ext cx="3440515" cy="515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8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1C38-6BAA-F4FB-689C-412DD62D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99D0E-6B7C-A697-FA00-B1E1451D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29AFED-DC93-459C-0E81-FE9F976F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rial"/>
                <a:cs typeface="Arial"/>
              </a:rPr>
              <a:t>KẾT QUẢ MÔ PHỎNG</a:t>
            </a:r>
            <a:endParaRPr lang="vi-VN">
              <a:latin typeface="Arial"/>
              <a:cs typeface="Arial"/>
            </a:endParaRPr>
          </a:p>
        </p:txBody>
      </p:sp>
      <p:sp>
        <p:nvSpPr>
          <p:cNvPr id="62" name="SubTitle">
            <a:extLst>
              <a:ext uri="{FF2B5EF4-FFF2-40B4-BE49-F238E27FC236}">
                <a16:creationId xmlns:a16="http://schemas.microsoft.com/office/drawing/2014/main" id="{39267F2D-5139-6B5E-664E-1E156C152C78}"/>
              </a:ext>
            </a:extLst>
          </p:cNvPr>
          <p:cNvSpPr txBox="1"/>
          <p:nvPr/>
        </p:nvSpPr>
        <p:spPr>
          <a:xfrm>
            <a:off x="234823" y="829826"/>
            <a:ext cx="86741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vi-VN" sz="2200" b="1">
                <a:solidFill>
                  <a:srgbClr val="C8102E"/>
                </a:solidFill>
                <a:latin typeface="Arial"/>
                <a:cs typeface="Arial"/>
              </a:rPr>
              <a:t>Video mô phỏng hệ thống</a:t>
            </a:r>
          </a:p>
        </p:txBody>
      </p:sp>
      <p:pic>
        <p:nvPicPr>
          <p:cNvPr id="4" name="Demo_DATN_LongTieng">
            <a:hlinkClick r:id="" action="ppaction://media"/>
            <a:extLst>
              <a:ext uri="{FF2B5EF4-FFF2-40B4-BE49-F238E27FC236}">
                <a16:creationId xmlns:a16="http://schemas.microsoft.com/office/drawing/2014/main" id="{2A1D3C0D-A41B-D987-CBDD-3E80F332D3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0293" y="1210826"/>
            <a:ext cx="7943413" cy="446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59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27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B00186-45CC-44D0-B1E3-ECDE720C2EC4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976fe704-2e0f-46b7-b70d-ed69df8ea5c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93bfa5-a50d-46a4-9f94-e2d00fea4cf9" xsi:nil="true"/>
    <lcf76f155ced4ddcb4097134ff3c332f xmlns="fbdd0e0e-e6d6-4753-b993-fd9c7a157a34">
      <Terms xmlns="http://schemas.microsoft.com/office/infopath/2007/PartnerControls"/>
    </lcf76f155ced4ddcb4097134ff3c332f>
    <SharedWithUsers xmlns="ba93bfa5-a50d-46a4-9f94-e2d00fea4cf9">
      <UserInfo>
        <DisplayName>Cán bộ viên chức Bách Khoa</DisplayName>
        <AccountId>7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7D97228AADCF4E9164DB7A0F7EF991" ma:contentTypeVersion="14" ma:contentTypeDescription="Create a new document." ma:contentTypeScope="" ma:versionID="e8a33be2cc4b26cdc391c5512956c30f">
  <xsd:schema xmlns:xsd="http://www.w3.org/2001/XMLSchema" xmlns:xs="http://www.w3.org/2001/XMLSchema" xmlns:p="http://schemas.microsoft.com/office/2006/metadata/properties" xmlns:ns2="ba93bfa5-a50d-46a4-9f94-e2d00fea4cf9" xmlns:ns3="fbdd0e0e-e6d6-4753-b993-fd9c7a157a34" targetNamespace="http://schemas.microsoft.com/office/2006/metadata/properties" ma:root="true" ma:fieldsID="9e975c2668369ee41ee8909f6d27b7eb" ns2:_="" ns3:_="">
    <xsd:import namespace="ba93bfa5-a50d-46a4-9f94-e2d00fea4cf9"/>
    <xsd:import namespace="fbdd0e0e-e6d6-4753-b993-fd9c7a157a3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93bfa5-a50d-46a4-9f94-e2d00fea4c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ef04bd71-5f88-42d7-abf8-7483b3b74d27}" ma:internalName="TaxCatchAll" ma:showField="CatchAllData" ma:web="ba93bfa5-a50d-46a4-9f94-e2d00fea4c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dd0e0e-e6d6-4753-b993-fd9c7a157a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FC930D-5681-484F-8561-F7AC6B41F8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F9A87E-05AD-4496-9B0B-B96F1838124A}">
  <ds:schemaRefs>
    <ds:schemaRef ds:uri="http://www.w3.org/XML/1998/namespace"/>
    <ds:schemaRef ds:uri="http://schemas.microsoft.com/office/2006/metadata/properties"/>
    <ds:schemaRef ds:uri="http://purl.org/dc/dcmitype/"/>
    <ds:schemaRef ds:uri="fbdd0e0e-e6d6-4753-b993-fd9c7a157a34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ba93bfa5-a50d-46a4-9f94-e2d00fea4cf9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7ED6A8D-94D6-4AC0-B3F2-8131969DAA07}">
  <ds:schemaRefs>
    <ds:schemaRef ds:uri="ba93bfa5-a50d-46a4-9f94-e2d00fea4cf9"/>
    <ds:schemaRef ds:uri="fbdd0e0e-e6d6-4753-b993-fd9c7a157a3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1247</TotalTime>
  <Words>1986</Words>
  <Application>Microsoft Office PowerPoint</Application>
  <PresentationFormat>On-screen Show (4:3)</PresentationFormat>
  <Paragraphs>275</Paragraphs>
  <Slides>36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Consolas</vt:lpstr>
      <vt:lpstr>Lato</vt:lpstr>
      <vt:lpstr>Office Theme</vt:lpstr>
      <vt:lpstr>PowerPoint Presentation</vt:lpstr>
      <vt:lpstr>ĐỒ ÁN TỐT NGHIỆP</vt:lpstr>
      <vt:lpstr>PowerPoint Presentation</vt:lpstr>
      <vt:lpstr>NỘI DUNG TRÌNH BÀY</vt:lpstr>
      <vt:lpstr>1. MỤC TIÊU ĐỒ ÁN</vt:lpstr>
      <vt:lpstr>2. Phân tích bài toán</vt:lpstr>
      <vt:lpstr>2. Phân tích bài toán</vt:lpstr>
      <vt:lpstr>3. Thiết kế hệ thống</vt:lpstr>
      <vt:lpstr>3. Thiết kế hệ thống</vt:lpstr>
      <vt:lpstr>3. Thiết kế hệ thống</vt:lpstr>
      <vt:lpstr>3. Thiết kế hệ thống</vt:lpstr>
      <vt:lpstr>3. Thiết kế hệ thống</vt:lpstr>
      <vt:lpstr>3. Thiết kế hệ thống</vt:lpstr>
      <vt:lpstr>3. Thiết kế hệ thống</vt:lpstr>
      <vt:lpstr>3. Thiết kế hệ thống</vt:lpstr>
      <vt:lpstr>3. Thiết kế hệ thống</vt:lpstr>
      <vt:lpstr>3. Thiết kế hệ thống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4. Kết quả thử nghiệm</vt:lpstr>
      <vt:lpstr>5. Kết luận, hạn chế và hướng phát triển</vt:lpstr>
      <vt:lpstr>5. Kết luận, hạn chế và hướng phát triển</vt:lpstr>
      <vt:lpstr>5. Kết luận, hạn chế và hướng phát triển</vt:lpstr>
      <vt:lpstr>5. Kết luận, hạn chế và hướng phát triển</vt:lpstr>
      <vt:lpstr>KẾT QUẢ MÔ PHỎNG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Tiến Nguyễn</cp:lastModifiedBy>
  <cp:revision>52</cp:revision>
  <dcterms:created xsi:type="dcterms:W3CDTF">2021-05-28T04:32:29Z</dcterms:created>
  <dcterms:modified xsi:type="dcterms:W3CDTF">2026-07-12T18:27:50Z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0x010100457D97228AADCF4E9164DB7A0F7EF991</vt:lpwstr>
  </property>
  <property fmtid="{D5CDD505-2E9C-101B-9397-08002B2CF9AE}" pid="3" name="MediaServiceImageTags">
    <vt:lpwstr/>
  </property>
</Properties>
</file>